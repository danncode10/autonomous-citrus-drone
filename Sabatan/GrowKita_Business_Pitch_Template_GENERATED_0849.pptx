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28d6e0f024d41" /><Relationship Type="http://schemas.openxmlformats.org/officeDocument/2006/relationships/extended-properties" Target="/docProps/app.xml" Id="R185d00e28ed74a54" /><Relationship Type="http://schemas.openxmlformats.org/officeDocument/2006/relationships/officeDocument" Target="/ppt/presentation.xml" Id="Ra52b248f114d44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3f91aa81d49f2"/>
  </p:sldMasterIdLst>
  <p:notesMasterIdLst>
    <p:notesMasterId xmlns:r="http://schemas.openxmlformats.org/officeDocument/2006/relationships" r:id="R8f6e939dcac54aa2"/>
  </p:notesMasterIdLst>
  <p:sldIdLst>
    <p:sldId xmlns:r="http://schemas.openxmlformats.org/officeDocument/2006/relationships" id="256" r:id="R665ab30a3f734283"/>
    <p:sldId xmlns:r="http://schemas.openxmlformats.org/officeDocument/2006/relationships" id="257" r:id="R837534feca01447c"/>
    <p:sldId xmlns:r="http://schemas.openxmlformats.org/officeDocument/2006/relationships" id="258" r:id="Ra36f4ab4018249b8"/>
    <p:sldId xmlns:r="http://schemas.openxmlformats.org/officeDocument/2006/relationships" id="259" r:id="Rf4f5647a67a649f8"/>
    <p:sldId xmlns:r="http://schemas.openxmlformats.org/officeDocument/2006/relationships" id="260" r:id="Reb285a34ef304df4"/>
    <p:sldId xmlns:r="http://schemas.openxmlformats.org/officeDocument/2006/relationships" id="261" r:id="R8f951694c9bc4c87"/>
    <p:sldId xmlns:r="http://schemas.openxmlformats.org/officeDocument/2006/relationships" id="262" r:id="R6c8f67d499934a98"/>
    <p:sldId xmlns:r="http://schemas.openxmlformats.org/officeDocument/2006/relationships" id="263" r:id="R87d5f0470573450e"/>
    <p:sldId xmlns:r="http://schemas.openxmlformats.org/officeDocument/2006/relationships" id="264" r:id="R89806ae5fc704541"/>
    <p:sldId xmlns:r="http://schemas.openxmlformats.org/officeDocument/2006/relationships" id="265" r:id="Rb77b3a958ed448b5"/>
    <p:sldId xmlns:r="http://schemas.openxmlformats.org/officeDocument/2006/relationships" id="266" r:id="R3f50f542bea44b36"/>
    <p:sldId xmlns:r="http://schemas.openxmlformats.org/officeDocument/2006/relationships" id="267" r:id="R4382930af0b444df"/>
    <p:sldId xmlns:r="http://schemas.openxmlformats.org/officeDocument/2006/relationships" id="268" r:id="R1384a9d245fb43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aff04dd034701" /><Relationship Type="http://schemas.openxmlformats.org/officeDocument/2006/relationships/slideMaster" Target="/ppt/slideMasters/slideMaster1.xml" Id="R0dd3f91aa81d49f2" /><Relationship Type="http://schemas.openxmlformats.org/officeDocument/2006/relationships/notesMaster" Target="/ppt/notesMasters/notesMaster1.xml" Id="R8f6e939dcac54aa2" /><Relationship Type="http://schemas.openxmlformats.org/officeDocument/2006/relationships/presProps" Target="/ppt/presProps.xml" Id="R00739c8dffc34a89" /><Relationship Type="http://schemas.openxmlformats.org/officeDocument/2006/relationships/tableStyles" Target="/ppt/tableStyles.xml" Id="R7c97484b37fe46ed" /><Relationship Type="http://schemas.openxmlformats.org/officeDocument/2006/relationships/slide" Target="/ppt/slides/slide1.xml" Id="R665ab30a3f734283" /><Relationship Type="http://schemas.openxmlformats.org/officeDocument/2006/relationships/slide" Target="/ppt/slides/slide2.xml" Id="R837534feca01447c" /><Relationship Type="http://schemas.openxmlformats.org/officeDocument/2006/relationships/slide" Target="/ppt/slides/slide3.xml" Id="Ra36f4ab4018249b8" /><Relationship Type="http://schemas.openxmlformats.org/officeDocument/2006/relationships/slide" Target="/ppt/slides/slide4.xml" Id="Rf4f5647a67a649f8" /><Relationship Type="http://schemas.openxmlformats.org/officeDocument/2006/relationships/slide" Target="/ppt/slides/slide5.xml" Id="Reb285a34ef304df4" /><Relationship Type="http://schemas.openxmlformats.org/officeDocument/2006/relationships/slide" Target="/ppt/slides/slide6.xml" Id="R8f951694c9bc4c87" /><Relationship Type="http://schemas.openxmlformats.org/officeDocument/2006/relationships/slide" Target="/ppt/slides/slide7.xml" Id="R6c8f67d499934a98" /><Relationship Type="http://schemas.openxmlformats.org/officeDocument/2006/relationships/slide" Target="/ppt/slides/slide8.xml" Id="R87d5f0470573450e" /><Relationship Type="http://schemas.openxmlformats.org/officeDocument/2006/relationships/slide" Target="/ppt/slides/slide9.xml" Id="R89806ae5fc704541" /><Relationship Type="http://schemas.openxmlformats.org/officeDocument/2006/relationships/slide" Target="/ppt/slides/slide10.xml" Id="Rb77b3a958ed448b5" /><Relationship Type="http://schemas.openxmlformats.org/officeDocument/2006/relationships/slide" Target="/ppt/slides/slide11.xml" Id="R3f50f542bea44b36" /><Relationship Type="http://schemas.openxmlformats.org/officeDocument/2006/relationships/slide" Target="/ppt/slides/slide12.xml" Id="R4382930af0b444df" /><Relationship Type="http://schemas.openxmlformats.org/officeDocument/2006/relationships/slide" Target="/ppt/slides/slide13.xml" Id="R1384a9d245fb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fd076c4d8a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9cc4583b04db3" /><Relationship Type="http://schemas.openxmlformats.org/officeDocument/2006/relationships/notesMaster" Target="/ppt/notesMasters/notesMaster1.xml" Id="Rb8b21aebbf27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e16be957314ba2" /><Relationship Type="http://schemas.openxmlformats.org/officeDocument/2006/relationships/notesMaster" Target="/ppt/notesMasters/notesMaster1.xml" Id="R75aff8c06945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0529cc62c0441f" /><Relationship Type="http://schemas.openxmlformats.org/officeDocument/2006/relationships/notesMaster" Target="/ppt/notesMasters/notesMaster1.xml" Id="R942f2bf493664b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4dcbf8bf334544" /><Relationship Type="http://schemas.openxmlformats.org/officeDocument/2006/relationships/notesMaster" Target="/ppt/notesMasters/notesMaster1.xml" Id="Rc65240e52a0c49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2fe3e900ca4547" /><Relationship Type="http://schemas.openxmlformats.org/officeDocument/2006/relationships/notesMaster" Target="/ppt/notesMasters/notesMaster1.xml" Id="Red649f10ead841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1c7bccda0146cc" /><Relationship Type="http://schemas.openxmlformats.org/officeDocument/2006/relationships/notesMaster" Target="/ppt/notesMasters/notesMaster1.xml" Id="R593a897feb1a4c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f4676cebdd4bd0" /><Relationship Type="http://schemas.openxmlformats.org/officeDocument/2006/relationships/notesMaster" Target="/ppt/notesMasters/notesMaster1.xml" Id="R727a1832217a48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b6e849b364036" /><Relationship Type="http://schemas.openxmlformats.org/officeDocument/2006/relationships/notesMaster" Target="/ppt/notesMasters/notesMaster1.xml" Id="R3158d850ee4444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b3364734df4c08" /><Relationship Type="http://schemas.openxmlformats.org/officeDocument/2006/relationships/notesMaster" Target="/ppt/notesMasters/notesMaster1.xml" Id="Rba94ecf540ca4a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b3e76ff32d44ab" /><Relationship Type="http://schemas.openxmlformats.org/officeDocument/2006/relationships/notesMaster" Target="/ppt/notesMasters/notesMaster1.xml" Id="R630770ee57e24b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4df6242b4b4dea" /><Relationship Type="http://schemas.openxmlformats.org/officeDocument/2006/relationships/notesMaster" Target="/ppt/notesMasters/notesMaster1.xml" Id="R1d7f7d8f5b4849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cebd7145134bf3" /><Relationship Type="http://schemas.openxmlformats.org/officeDocument/2006/relationships/notesMaster" Target="/ppt/notesMasters/notesMaster1.xml" Id="Rf91dccf2e826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4210f8aba54924" /><Relationship Type="http://schemas.openxmlformats.org/officeDocument/2006/relationships/notesMaster" Target="/ppt/notesMasters/notesMaster1.xml" Id="Ra4b63fdb05b4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decision, not the drone.</a:t>
            </a:r>
          </a:p>
          <a:p xmlns:a="http://schemas.openxmlformats.org/drawingml/2006/main">
            <a:r>
              <a:t>GrowKita helps farms plan harvest and buyer commitments before the exact fruit volume is known.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Agriculture is entering an AI era, but local farms need practical tools, not technology for its own sake.</a:t>
            </a:r>
          </a:p>
          <a:p xmlns:a="http://schemas.openxmlformats.org/drawingml/2006/main">
            <a:r>
              <a:t>Our first step is citrus yield estimation in Nueva Vizcaya.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Nueva Vizcaya's Perante orange focus makes this a practical local entry point.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PROJECT_OVERVIEW.md (local crop focus)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 is not that farmers lack information. They lack timely, consistent information at the scale needed for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is a useful report and planning insight. The drone is how we collect consistent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Honesty builds trust: leaves and branches can hide fruit, so we use the phrase visible fruit-count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begin with paid results because that keeps quality under our control.</a:t>
            </a:r>
          </a:p>
          <a:p xmlns:a="http://schemas.openxmlformats.org/drawingml/2006/main">
            <a:r>
              <a:t>Seasonal monitoring is the repeat-revenue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Anyone can buy a drone. The defensible asset is local data plus a repeatable workflow that produces useful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not build a business by reselling a farm's private records.</a:t>
            </a:r>
          </a:p>
          <a:p xmlns:a="http://schemas.openxmlformats.org/drawingml/2006/main">
            <a:r>
              <a:t>With consent, data improves the AI. Later, aggregated and anonymized insights may serve co-ops, buyers, and agricultural organizations.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platform is scalable because the workflow repeats, but we expand only after the first market is working.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future applications, not current features.</a:t>
            </a:r>
          </a:p>
          <a:p xmlns:a="http://schemas.openxmlformats.org/drawingml/2006/main">
            <a:r>
              <a:t>Each one must earn its place through a paid pilot and appropriate welfare, safety, and biosecurity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are asking for a chance to prove a useful local product with measurable farm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original GrowKita closing statement.</a:t>
            </a:r>
          </a:p>
          <a:p xmlns:a="http://schemas.openxmlformats.org/drawingml/2006/main">
            <a:r>
              <a:t>End on the mission: local data, AI, and practical automation for better farm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1f5e95b33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b124831e4433f" /><Relationship Type="http://schemas.openxmlformats.org/officeDocument/2006/relationships/slideLayout" Target="/ppt/slideLayouts/slideLayout1.xml" Id="Rd3987dc97f3e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87dc97f3e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52dd048444f3e" /><Relationship Type="http://schemas.openxmlformats.org/officeDocument/2006/relationships/notesSlide" Target="/ppt/notesSlides/notesSlide1.xml" Id="Rdb8017c4a48d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04b1a3c0b4308" /><Relationship Type="http://schemas.openxmlformats.org/officeDocument/2006/relationships/notesSlide" Target="/ppt/notesSlides/notesSlide2.xml" Id="R0116a287104c4d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4cc2572684a3e" /><Relationship Type="http://schemas.openxmlformats.org/officeDocument/2006/relationships/notesSlide" Target="/ppt/notesSlides/notesSlide3.xml" Id="R9a28a13c5eb742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70a7b2b1a4bb2" /><Relationship Type="http://schemas.openxmlformats.org/officeDocument/2006/relationships/notesSlide" Target="/ppt/notesSlides/notesSlide4.xml" Id="Rc1634261183748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191328e19446b" /><Relationship Type="http://schemas.openxmlformats.org/officeDocument/2006/relationships/notesSlide" Target="/ppt/notesSlides/notesSlide5.xml" Id="R9dd75bfd741240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a1d531224691" /><Relationship Type="http://schemas.openxmlformats.org/officeDocument/2006/relationships/notesSlide" Target="/ppt/notesSlides/notesSlide6.xml" Id="R1e15cb9d1ba8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0ac676c214779" /><Relationship Type="http://schemas.openxmlformats.org/officeDocument/2006/relationships/notesSlide" Target="/ppt/notesSlides/notesSlide7.xml" Id="Rbc591c3e71f2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bf316a78c4bda" /><Relationship Type="http://schemas.openxmlformats.org/officeDocument/2006/relationships/notesSlide" Target="/ppt/notesSlides/notesSlide8.xml" Id="Rf15b398aaec2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3519508d444bb" /><Relationship Type="http://schemas.openxmlformats.org/officeDocument/2006/relationships/notesSlide" Target="/ppt/notesSlides/notesSlide9.xml" Id="R44f41b258e4e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881bb008443b5" /><Relationship Type="http://schemas.openxmlformats.org/officeDocument/2006/relationships/notesSlide" Target="/ppt/notesSlides/notesSlide10.xml" Id="R7432c844c62c48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089f0d0e64f64" /><Relationship Type="http://schemas.openxmlformats.org/officeDocument/2006/relationships/notesSlide" Target="/ppt/notesSlides/notesSlide11.xml" Id="R245fd0be309d4b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c2b6a1da442c" /><Relationship Type="http://schemas.openxmlformats.org/officeDocument/2006/relationships/notesSlide" Target="/ppt/notesSlides/notesSlide12.xml" Id="R382f6e3a100941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05045c1ee4ebe" /><Relationship Type="http://schemas.openxmlformats.org/officeDocument/2006/relationships/notesSlide" Target="/ppt/notesSlides/notesSlide13.xml" Id="R2253563aa76748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C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CBA6D-F0AE-4BA4-BBD4-5B6E36F4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8B20A2C8-4740-4946-B3FE-0E78137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03D07-7A08-4C64-ADA9-3CD2B1E1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8610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HERO FARM PHOTO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777D-93BF-4C09-8372-5B67845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Perante citrus tree or farm landscape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A5E51-416F-4CDD-9533-FDB3B51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1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31C34-76FE-456A-800E-DF918D0B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C35CA38E-C22F-4070-9E91-D09E7B86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GrowKita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65E94-E4C2-407F-88A6-645D8025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DEEDC"/>
                </a:solidFill>
              </a:defRPr>
            </a:pPr>
            <a:r>
              <a:rPr sz="2100">
                <a:solidFill>
                  <a:srgbClr val="DDEEDC"/>
                </a:solidFill>
              </a:rPr>
              <a:t>AI-powered farm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72CAA-BA61-46F8-AD39-2ADE220A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Starting with citrus yield estimation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for Nueva Vizcaya farms.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C5232-2C87-4722-A699-D5C7BB0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D5C5"/>
                </a:solidFill>
              </a:defRPr>
            </a:pPr>
            <a:r>
              <a:rPr sz="1125">
                <a:solidFill>
                  <a:srgbClr val="B9D5C5"/>
                </a:solidFill>
              </a:rPr>
              <a:t>NVSU Business Pitch Competition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7EB32-2FCF-4477-A029-426A7E9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D5C5"/>
                </a:solidFill>
              </a:defRPr>
            </a:pPr>
            <a:r>
              <a:rPr sz="900" b="1">
                <a:solidFill>
                  <a:srgbClr val="B9D5C5"/>
                </a:solidFill>
              </a:rPr>
              <a:t>TEAM NAME  |  NUEVA VIZCAYA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2055225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30849706-C036-4F08-B49D-14E6636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OUR VISION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E0B8B8-BECA-4654-8918-DF42DC9D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Practical AI-powered farm intelligence for Philippine agriculture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A071-6191-4FF4-B014-4E9179A5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FA63B37-AC9C-4406-93F7-1014C218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9FAA3-E4C2-4737-BB10-C86F95B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GrowKita turns field observations into decisions that farms can act on.</a:t>
            </a:r>
          </a:p>
        </p:txBody>
      </p:sp>
      <p:sp>
        <p:nvSpPr>
          <p:cNvPr id="6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4A2DADF3-9CA1-47FC-B360-080FBAC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87D64-1834-4A3B-AB63-6B3DC7AF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337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FARM LANDSCAPE OR AERIAL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9D07-1798-4F5D-9E2B-1405AF4C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956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Use a real wide farm photo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65314-8DD8-4F6E-965A-6AE86A33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6E68D-164A-4AC7-9838-DE12113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8F67D-1C26-4AE1-BAE2-9391703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23E7-3319-4144-97DB-9902E4F8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Capture farm conditions</a:t>
            </a:r>
          </a:p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with guided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C285C-9A1F-492F-AC1C-ED049EA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34B63-7416-4045-948C-76164D6A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73FB0-B07E-49B5-AC78-8A9E485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5E92E-5F80-48DC-AF09-068AC810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Use AI and computer vision</a:t>
            </a:r>
          </a:p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to analyze what is seen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305D7-A6A4-4E17-BAEA-DCFAAD4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6E003-5E89-4960-8FEB-341E8060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813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79621-DFE4-43E5-86DA-B2043DDA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61107-A957-4AC2-B0FF-505AF31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Deliver clear insights</a:t>
            </a:r>
          </a:p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for farm decisions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8E4D126E-D613-441E-BEF9-5708A89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390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solidFill>
              <a:srgbClr val="FFF0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FIRST STEP: CITRUS YIELD ESTIMATION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8C810-E4FD-424E-93AE-10CBE5BD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A platform vision, proven through one focused first product.</a:t>
            </a:r>
          </a:p>
        </p:txBody>
      </p:sp>
    </p:spTree>
    <p:extLst>
      <p:ext uri="{BB962C8B-B14F-4D97-AF65-F5344CB8AC3E}">
        <p14:creationId xmlns:p14="http://schemas.microsoft.com/office/powerpoint/2010/main" val="2061823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BE0B3875-BA4F-43FF-AE71-9843EA10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WHY CITRUS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375204-1AF0-4C6C-B885-B923E904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Start local. Prove value. Then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66347-CF2D-4335-A857-92BDDC97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03F4C01-5728-4611-8CA9-753921ED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03</a:t>
            </a:r>
          </a:p>
        </p:txBody>
      </p:sp>
      <p:sp>
        <p:nvSpPr>
          <p:cNvPr id="5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7E3398C1-ACBD-4419-8EB7-74774A1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49E68-AF27-42F5-9A0A-47CC2E90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PERANTE ORANGES ON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ADF09-B7BC-4696-92AF-ECA6929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clear local citrus photo</a:t>
            </a:r>
          </a:p>
        </p:txBody>
      </p:sp>
      <p:sp>
        <p:nvSpPr>
          <p:cNvPr id="8" name="map-placeholder">
            <a:extLst xmlns:a="http://schemas.openxmlformats.org/drawingml/2006/main">
              <a:ext uri="{FF2B5EF4-FFF2-40B4-BE49-F238E27FC236}">
                <a16:creationId xmlns:a16="http://schemas.microsoft.com/office/drawing/2014/main" id="{AEDC7376-82F8-4C01-A6B1-F24CDF7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14500"/>
            <a:ext cx="2762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9BDFA-C0C6-4E21-9755-3956F24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NUEVA VIZCAYA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472C-B14F-402D-9C74-7BAAABC0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PASTE A SIMPLE</a:t>
            </a:r>
          </a:p>
          <a:p xmlns:a="http://schemas.openxmlformats.org/drawingml/2006/main"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PROVINCE MAP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21AB5-8A6F-4726-B761-E9C0F9B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Citrus gives GrowKita a focused first market.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F7F0F-8372-4ECD-AFA0-4896DCB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DC4E8-F104-40B6-AE78-8C0045E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Build a local, crop-specific AI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E39CF-52A6-4CD6-A19C-6EE54A4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CDF1B-B9C4-4632-BE97-AD686D3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Work with nearby farms and agricultural partners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12F4F-D18E-4CC9-AD3B-BB9159B6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B131D-F25D-4D1C-B9DC-7ADF79C1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Prove farmers will pay for yield insights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4A67C815-A773-4654-B92C-018EB09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88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0">
            <a:solidFill>
              <a:srgbClr val="DDE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LOCAL CROP. LOCAL DATA. LOCAL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FCFD5-93E0-4773-A6DB-19B21C3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First product: citrus yield intelligence.</a:t>
            </a:r>
          </a:p>
        </p:txBody>
      </p:sp>
    </p:spTree>
    <p:extLst>
      <p:ext uri="{BB962C8B-B14F-4D97-AF65-F5344CB8AC3E}">
        <p14:creationId xmlns:p14="http://schemas.microsoft.com/office/powerpoint/2010/main" val="2059420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417E6957-778F-4ECB-953F-65AD81D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THE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764CAB-0607-45DF-8E6D-251FDD69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Before harvest, farms are forced to estimate.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33730-D424-4B3D-B13D-ED808EF9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2135DBF-E244-4DCD-8FF6-5137B59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04</a:t>
            </a:r>
          </a:p>
        </p:txBody>
      </p:sp>
      <p:sp>
        <p:nvSpPr>
          <p:cNvPr id="5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F62B9E65-9B94-4D78-A7F0-4F635A94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43624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5D268-8488-48A3-8554-89A522E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WORKER INSPECTING FRUIT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E0D87-EAF3-4C33-9CB2-530EEA5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field-inspection photo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06757-3C9C-4B8B-A308-4704A016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Farms need earlier answers to three costly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A19F6-C626-43D9-97E4-F5E55523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11B1A-00C9-4C88-8827-E3170D1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955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How much fruit can we expect?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94BF9-F546-4ACD-A4C5-3288385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01756-378D-49B2-9196-CBAAEAA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71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How many workers should we prepare?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DDB7A-E2F3-46C7-9A31-F5D30B52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2AFFA-D42E-42CD-962F-A9E95AEB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481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What volume can we commit to buyers?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30D0D-0C03-454B-B1A0-141E71C7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Manual counting is slow, inconsistent, and difficult across many trees.</a:t>
            </a:r>
          </a:p>
        </p:txBody>
      </p:sp>
    </p:spTree>
    <p:extLst>
      <p:ext uri="{BB962C8B-B14F-4D97-AF65-F5344CB8AC3E}">
        <p14:creationId xmlns:p14="http://schemas.microsoft.com/office/powerpoint/2010/main" val="218381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7BCBF40-9EA2-4060-AF16-321DF3D9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THE 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00C51C-DE71-4551-B8C0-ED9FA94B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A scan becomes a harvest estimate.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7B3E1-8687-4535-B8CB-93185788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493D9BA-9688-4780-9EB3-39498CF6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D18B-1FAC-49E0-8F58-CED5E66C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GrowKita sells a decision-ready report, not simply a drone flight.</a:t>
            </a:r>
          </a:p>
        </p:txBody>
      </p:sp>
      <p:sp>
        <p:nvSpPr>
          <p:cNvPr id="6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F7915131-722C-48A9-89F8-EA0FDBC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099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F05570FB-B940-4C41-81AF-293218B5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195B2113-626C-4CB9-ABDB-7C1C9C1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74C7B698-B21C-42A1-B81A-56328C7C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FCF05-FE78-4617-8D58-ED5F3A15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Guided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547A5-E382-4EE2-BFC1-121C7729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Scan the citrus</a:t>
            </a:r>
          </a:p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farm block</a:t>
            </a:r>
          </a:p>
        </p:txBody>
      </p:sp>
      <p:sp>
        <p:nvSpPr>
          <p:cNvPr id="12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6B105AB6-1F6F-49AA-8978-B928FA90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AC95C-CD9B-414F-9BCB-A31470C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AI 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7F9B6-BE01-453A-A4BB-21ADC230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Detect visible</a:t>
            </a:r>
          </a:p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fruit in images</a:t>
            </a:r>
          </a:p>
        </p:txBody>
      </p:sp>
      <p:sp>
        <p:nvSpPr>
          <p:cNvPr id="15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0FBB85BA-F723-4C77-99F8-3DEE58A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324FA-78B0-438C-BB83-2914C8B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Farm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17878-6A61-4558-A8AF-828E5A3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Yield estimate</a:t>
            </a:r>
          </a:p>
          <a:p xmlns:a="http://schemas.openxmlformats.org/drawingml/2006/main"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and farm map</a:t>
            </a:r>
          </a:p>
        </p:txBody>
      </p:sp>
      <p:sp>
        <p:nvSpPr>
          <p:cNvPr id="18" name="process-node">
            <a:extLst xmlns:a="http://schemas.openxmlformats.org/drawingml/2006/main">
              <a:ext uri="{FF2B5EF4-FFF2-40B4-BE49-F238E27FC236}">
                <a16:creationId xmlns:a16="http://schemas.microsoft.com/office/drawing/2014/main" id="{DD02F033-E1A3-4005-9175-B2CC7B1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E6B4F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8BD6D-96C8-4C9E-9E47-F1B4344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Better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8B4A5-569A-4CE4-9A85-A64EAD8E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Harvest, labor,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packing, and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164FF-B503-41A5-AD05-B219E09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The early workflow is operated or supervised by GrowKita to protect data quality.</a:t>
            </a:r>
          </a:p>
        </p:txBody>
      </p:sp>
    </p:spTree>
    <p:extLst>
      <p:ext uri="{BB962C8B-B14F-4D97-AF65-F5344CB8AC3E}">
        <p14:creationId xmlns:p14="http://schemas.microsoft.com/office/powerpoint/2010/main" val="1994742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BBCEC22-799E-4E42-84C4-5AA16124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WHAT THE FARM RECEIVES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BAAD9B-37F0-4B87-BB88-75454E8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A report a farm can act 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F282B-2718-44DE-8C1D-DF234EC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8EB7D2D-5E11-4532-907B-9543A92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06</a:t>
            </a:r>
          </a:p>
        </p:txBody>
      </p:sp>
      <p:sp>
        <p:nvSpPr>
          <p:cNvPr id="5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06042364-A77B-4F00-8D02-5223236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810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5FFAA-21FD-4500-84DC-E5524BA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DASHBOARD SCREENSHOT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AE700-2C47-4BA0-B909-FB2A4F3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535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your actual project dashboard or mockup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D46CA-1932-4F64-BF5B-5488A4FA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B2C"/>
                </a:solidFill>
              </a:defRPr>
            </a:pPr>
            <a:r>
              <a:rPr sz="2100" b="1">
                <a:solidFill>
                  <a:srgbClr val="173B2C"/>
                </a:solidFill>
              </a:rPr>
              <a:t>Clear outputs for a better harvest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6563E-02BF-4116-BC1D-1057575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B81C0-9B48-4BC9-821B-181C87A8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Estimated visible fruit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9187B-3BF7-4E0F-89A1-6230B110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3A793-CACE-4C9A-8402-71199694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Map by farm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2BFBF-EED3-4255-B7DF-129514A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B92F4-996D-4B8D-9B5D-1F8F032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Areas needing a manual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3DDE8-8A30-44ED-A044-9507D5E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05E87-7B60-47B8-BE1F-D8A18FD1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Scan history for seasonal comparison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CD76A5D3-AD65-484A-A8A0-39C617F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2952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solidFill>
              <a:srgbClr val="FFF0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VISIBLE FRUIT-COUNT ESTIMATE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EF2B-3C3E-46C2-8607-CC76361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Be precise: results are a visible fruit-count estimate, not a guaranteed total harvest.</a:t>
            </a:r>
          </a:p>
        </p:txBody>
      </p:sp>
    </p:spTree>
    <p:extLst>
      <p:ext uri="{BB962C8B-B14F-4D97-AF65-F5344CB8AC3E}">
        <p14:creationId xmlns:p14="http://schemas.microsoft.com/office/powerpoint/2010/main" val="629572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698516F-3F6C-4F3A-97A8-98D0BFA6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BUSINESS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D775C7-F348-42E1-9054-34A52B6F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Start with a service. Grow into a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872B1-A0D7-4612-958B-55C7A479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E145588-CD89-4398-B9E0-C837509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07</a:t>
            </a:r>
          </a:p>
        </p:txBody>
      </p:sp>
      <p:sp>
        <p:nvSpPr>
          <p:cNvPr id="5" name="revenue-stage">
            <a:extLst xmlns:a="http://schemas.openxmlformats.org/drawingml/2006/main">
              <a:ext uri="{FF2B5EF4-FFF2-40B4-BE49-F238E27FC236}">
                <a16:creationId xmlns:a16="http://schemas.microsoft.com/office/drawing/2014/main" id="{0D1C521B-B174-44AE-AF17-26DED15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181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B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F3287-1211-4E8C-BC26-DCA35E5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8BC2-5C64-4F88-A274-4B9C7F8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Paid farm 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122A5-C516-4EA7-8512-C7A7818B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We operate or supervise</a:t>
            </a:r>
          </a:p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the scan and report.</a:t>
            </a:r>
          </a:p>
        </p:txBody>
      </p:sp>
      <p:sp>
        <p:nvSpPr>
          <p:cNvPr id="9" name="revenue-stage">
            <a:extLst xmlns:a="http://schemas.openxmlformats.org/drawingml/2006/main">
              <a:ext uri="{FF2B5EF4-FFF2-40B4-BE49-F238E27FC236}">
                <a16:creationId xmlns:a16="http://schemas.microsoft.com/office/drawing/2014/main" id="{48AE1449-0F38-40C2-B85D-72B9E833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62150"/>
            <a:ext cx="3181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F15E1-D9F7-44D5-BD27-89C5997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D5177-22C0-42B8-9683-B0DE601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Seasonal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3CDE6-8B49-4D42-BD16-42CE8B72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Repeat scans, history,</a:t>
            </a:r>
          </a:p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and comparison reports.</a:t>
            </a:r>
          </a:p>
        </p:txBody>
      </p:sp>
      <p:sp>
        <p:nvSpPr>
          <p:cNvPr id="13" name="revenue-stage">
            <a:extLst xmlns:a="http://schemas.openxmlformats.org/drawingml/2006/main">
              <a:ext uri="{FF2B5EF4-FFF2-40B4-BE49-F238E27FC236}">
                <a16:creationId xmlns:a16="http://schemas.microsoft.com/office/drawing/2014/main" id="{42B2215E-382E-498E-AB2C-99A4D26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181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D3E95-4868-47F0-B676-18F1E87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BE281-55A7-487A-8026-EE69E46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Managed on-site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36855-108F-4869-B1AD-D6CA68B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Guided farm-staff scans</a:t>
            </a:r>
          </a:p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with software and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8474C-710F-4AFA-B074-901B32E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Initial price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84095-7126-4A0E-B575-6CE6EC5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Pilot: PHP 1,500-3,000     |     Farm/block scan: PHP 5,000-15,000     |     Large/co-op/custom: PHP 20,000+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889E1-F736-4CFC-859A-1FE99D9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Prices are hypotheses to validate against operating cost and customer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199754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C47A5DF3-8853-4500-86A2-0038AB0B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WHY WE CAN WIN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1CF72B-2A25-458F-BD84-3F13EA1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Our advantage is the system, not the drone.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99DE3-F23B-4DF2-BF99-8A2E893B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DB8FA61-43FC-4C3F-8CF8-5B3D1FE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08</a:t>
            </a:r>
          </a:p>
        </p:txBody>
      </p:sp>
      <p:sp>
        <p:nvSpPr>
          <p:cNvPr id="5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C447BE76-DC40-4856-91DD-19A3C51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483E-1455-47E3-BDE1-EC617FCD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PERANTE CITRUS OR FIELD TEST PHOTO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7B0F2-F567-455C-B9F7-340A4C8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Use a real project or local farm image</a:t>
            </a:r>
          </a:p>
        </p:txBody>
      </p:sp>
      <p:sp>
        <p:nvSpPr>
          <p:cNvPr id="8" name="center">
            <a:extLst xmlns:a="http://schemas.openxmlformats.org/drawingml/2006/main">
              <a:ext uri="{FF2B5EF4-FFF2-40B4-BE49-F238E27FC236}">
                <a16:creationId xmlns:a16="http://schemas.microsoft.com/office/drawing/2014/main" id="{E1D42A7D-990B-4702-A92D-DD7A9AFB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582B-0D2B-4B88-BFE0-7778788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LOCAL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10" name="advantage">
            <a:extLst xmlns:a="http://schemas.openxmlformats.org/drawingml/2006/main">
              <a:ext uri="{FF2B5EF4-FFF2-40B4-BE49-F238E27FC236}">
                <a16:creationId xmlns:a16="http://schemas.microsoft.com/office/drawing/2014/main" id="{326A7951-69EB-4272-8E1A-2E496D53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190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2CFC1-D722-4652-B477-CF15826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145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Local data</a:t>
            </a:r>
          </a:p>
        </p:txBody>
      </p:sp>
      <p:sp>
        <p:nvSpPr>
          <p:cNvPr id="12" name="advantage">
            <a:extLst xmlns:a="http://schemas.openxmlformats.org/drawingml/2006/main">
              <a:ext uri="{FF2B5EF4-FFF2-40B4-BE49-F238E27FC236}">
                <a16:creationId xmlns:a16="http://schemas.microsoft.com/office/drawing/2014/main" id="{DA32E269-1E91-405B-9AB5-942B38D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190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6F5DC-D0A6-4184-ADEF-F86F294B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145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AI model</a:t>
            </a:r>
          </a:p>
        </p:txBody>
      </p:sp>
      <p:sp>
        <p:nvSpPr>
          <p:cNvPr id="14" name="advantage">
            <a:extLst xmlns:a="http://schemas.openxmlformats.org/drawingml/2006/main">
              <a:ext uri="{FF2B5EF4-FFF2-40B4-BE49-F238E27FC236}">
                <a16:creationId xmlns:a16="http://schemas.microsoft.com/office/drawing/2014/main" id="{FAC0D3BD-3ADD-4D03-AD57-BFE9A440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190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0CC54-B21F-4D37-819E-42996D0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Field workflow</a:t>
            </a:r>
          </a:p>
        </p:txBody>
      </p:sp>
      <p:sp>
        <p:nvSpPr>
          <p:cNvPr id="16" name="advantage">
            <a:extLst xmlns:a="http://schemas.openxmlformats.org/drawingml/2006/main">
              <a:ext uri="{FF2B5EF4-FFF2-40B4-BE49-F238E27FC236}">
                <a16:creationId xmlns:a16="http://schemas.microsoft.com/office/drawing/2014/main" id="{C3B5D75C-DC55-4B4D-9092-4995CB4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29200"/>
            <a:ext cx="190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827BD-6BAB-4736-ABAE-B51053A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01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Trusted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A4998-FB96-48CA-A511-B88700D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Perante orange dataset, farm maps, repeat scan history, and the NVSU agricultural network create a local advantage.</a:t>
            </a:r>
          </a:p>
        </p:txBody>
      </p:sp>
    </p:spTree>
    <p:extLst>
      <p:ext uri="{BB962C8B-B14F-4D97-AF65-F5344CB8AC3E}">
        <p14:creationId xmlns:p14="http://schemas.microsoft.com/office/powerpoint/2010/main" val="2065666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931CB78-0AEB-4AAF-B117-56AD364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DATA FLYWHEEL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2C7D64-5698-4CDD-B539-E5BAEAF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Every permissioned scan improves the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D5210-A9C9-4A72-861D-3F238BC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4D26F98-81C3-4D9B-9D9B-7B407E7A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AD239-335F-4E6E-B027-623CAA37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Customer trust turns data collection into a compounding product advantage.</a:t>
            </a:r>
          </a:p>
        </p:txBody>
      </p:sp>
      <p:sp>
        <p:nvSpPr>
          <p:cNvPr id="6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B7103E1E-94C6-4FD2-AAAA-E5EB57AB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76600"/>
            <a:ext cx="628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80AD5DDD-A304-4495-8387-6A05D4E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628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arrow">
            <a:extLst xmlns:a="http://schemas.openxmlformats.org/drawingml/2006/main">
              <a:ext uri="{FF2B5EF4-FFF2-40B4-BE49-F238E27FC236}">
                <a16:creationId xmlns:a16="http://schemas.microsoft.com/office/drawing/2014/main" id="{36821A1C-782E-4466-926C-A368C280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628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node">
            <a:extLst xmlns:a="http://schemas.openxmlformats.org/drawingml/2006/main">
              <a:ext uri="{FF2B5EF4-FFF2-40B4-BE49-F238E27FC236}">
                <a16:creationId xmlns:a16="http://schemas.microsoft.com/office/drawing/2014/main" id="{4CBEBCDD-586E-41EA-A9AD-C238C7C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404D1-2439-4B1A-81EA-F1154584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More farm scans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C5D22-7FC4-44FD-A957-E593238E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Real-world images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and scan conditions</a:t>
            </a:r>
          </a:p>
        </p:txBody>
      </p:sp>
      <p:sp>
        <p:nvSpPr>
          <p:cNvPr id="12" name="data-node">
            <a:extLst xmlns:a="http://schemas.openxmlformats.org/drawingml/2006/main">
              <a:ext uri="{FF2B5EF4-FFF2-40B4-BE49-F238E27FC236}">
                <a16:creationId xmlns:a16="http://schemas.microsoft.com/office/drawing/2014/main" id="{3EA33CEF-C095-4E5F-9C5C-0095472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84B64-368F-4A25-8080-F321844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Trusted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EB390-F8A2-4CB5-8CBE-83FB50EF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48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Quality-checked data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with clear consent</a:t>
            </a:r>
          </a:p>
        </p:txBody>
      </p:sp>
      <p:sp>
        <p:nvSpPr>
          <p:cNvPr id="15" name="data-node">
            <a:extLst xmlns:a="http://schemas.openxmlformats.org/drawingml/2006/main">
              <a:ext uri="{FF2B5EF4-FFF2-40B4-BE49-F238E27FC236}">
                <a16:creationId xmlns:a16="http://schemas.microsoft.com/office/drawing/2014/main" id="{E9BCB746-A2C7-42BF-8BB6-3C95C86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15CAE-A96E-42AA-B1AA-324EDF93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242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Better citrus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7A65E-D86C-439E-9188-17585239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48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Improved detection</a:t>
            </a:r>
          </a:p>
          <a:p xmlns:a="http://schemas.openxmlformats.org/drawingml/2006/main"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and evaluation</a:t>
            </a:r>
          </a:p>
        </p:txBody>
      </p:sp>
      <p:sp>
        <p:nvSpPr>
          <p:cNvPr id="18" name="data-node">
            <a:extLst xmlns:a="http://schemas.openxmlformats.org/drawingml/2006/main">
              <a:ext uri="{FF2B5EF4-FFF2-40B4-BE49-F238E27FC236}">
                <a16:creationId xmlns:a16="http://schemas.microsoft.com/office/drawing/2014/main" id="{F0E2D79E-6BDF-43A9-B0AF-30C71260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1885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6B4F"/>
          </a:solidFill>
          <a:ln xmlns:a="http://schemas.openxmlformats.org/drawingml/2006/main" w="9525">
            <a:solidFill>
              <a:srgbClr val="2383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90BA0-0283-442B-A2C7-7584B4E6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Better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D18F2-61FC-42E6-B026-C6516AC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DDEEDC"/>
                </a:solidFill>
              </a:defRPr>
            </a:pPr>
            <a:r>
              <a:rPr sz="975">
                <a:solidFill>
                  <a:srgbClr val="DDEEDC"/>
                </a:solidFill>
              </a:rPr>
              <a:t>More useful insight</a:t>
            </a:r>
          </a:p>
          <a:p xmlns:a="http://schemas.openxmlformats.org/drawingml/2006/main">
            <a:pPr algn="ctr">
              <a:defRPr sz="975">
                <a:solidFill>
                  <a:srgbClr val="DDEEDC"/>
                </a:solidFill>
              </a:defRPr>
            </a:pPr>
            <a:r>
              <a:rPr sz="975">
                <a:solidFill>
                  <a:srgbClr val="DDEEDC"/>
                </a:solidFill>
              </a:rPr>
              <a:t>and repeat customers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2098D-AC15-41A3-A871-AE05C8D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922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667085"/>
                </a:solidFill>
              </a:defRPr>
            </a:pPr>
            <a:r>
              <a:rPr sz="1425">
                <a:solidFill>
                  <a:srgbClr val="667085"/>
                </a:solidFill>
              </a:rPr>
              <a:t>Farm-identifiable data stays protected. Any aggregate insight product requires clear consent.</a:t>
            </a:r>
          </a:p>
        </p:txBody>
      </p:sp>
    </p:spTree>
    <p:extLst>
      <p:ext uri="{BB962C8B-B14F-4D97-AF65-F5344CB8AC3E}">
        <p14:creationId xmlns:p14="http://schemas.microsoft.com/office/powerpoint/2010/main" val="725103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2B47B05E-00CD-4B90-8E86-C7F2FF01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GROWTH PATH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DD6DD4-405A-4E51-9761-23EE5ED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Citrus first. Farm intelligence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67512-C582-4590-9BF1-5B90730C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1965CB5-8AED-4969-A744-3A266F1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B4E95-8B92-470A-B0CA-99DABD0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A8A9B-6891-4C34-B223-47182BE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2450-902A-48D8-A5B0-AFC018B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8E759-FD8D-4DDD-8A33-F1810C2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Prove paid citrus scans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C51E6-38F4-4119-BC58-5FD4432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Nueva Vizcaya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12810-FA75-42A2-8371-E5CDABD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EAE7A-AA6C-4F0A-BA6D-961FBE5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1D522-1ADA-4567-89E5-B6BFD3D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Build seasonal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D3B0-E868-48EE-95C1-366AED9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33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Repeat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F921A-2A4A-4570-ACEB-EE2F6163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D974C-9594-4D9E-8F6D-66B861A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DD5CC-32CB-4671-B522-C1D9B6F6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Enable guided farm-staff scans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BC7BB-DE80-4FFA-9F91-F17A798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Software +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1D6D8-40BC-4DB1-8D28-6A53295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EB111-5674-41D5-805F-437ABFD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33C9F-5B4F-4109-AD5F-5C96CE4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Run paid pilots for the next crop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4C6D4-AB66-40BD-81B2-A7D628A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33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Research + controlled environments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A6D45201-F4B9-4E4D-A960-7BC0EED2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29250"/>
            <a:ext cx="5791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solidFill>
              <a:srgbClr val="FFF0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DO NOT BUILD EVERY CROP SOLUTION AT 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E3F37-BC43-4214-BB44-0AF188C0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Expand only after the first use case is paid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1783271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ADFF9857-E27F-4261-A059-B491F580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FUTURE APPLICATIONS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32944D-1BC5-49CA-8E96-44DE177C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One monitoring platform. More farm applications.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BEC93-CC9E-42F1-B8E8-AA445E5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5241D38-65D4-40E5-B3F7-D482EE37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81405-47F4-4389-81CE-CC30A95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7085"/>
                </a:solidFill>
              </a:defRPr>
            </a:pPr>
            <a:r>
              <a:rPr sz="1725">
                <a:solidFill>
                  <a:srgbClr val="667085"/>
                </a:solidFill>
              </a:rPr>
              <a:t>Citrus is the first product. These are adjacent use cases to validate through paid pilots.</a:t>
            </a:r>
          </a:p>
        </p:txBody>
      </p:sp>
      <p:sp>
        <p:nvSpPr>
          <p:cNvPr id="6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CCCC82C3-EC4B-423E-A1A5-2A576E6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81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7D2CD-A882-4D84-86FB-6F704646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HYDROPONIC TOWER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14411-FA3F-495A-9045-2D8EBAA8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relevant real photo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EE1AD-ABBD-4314-9B31-501D7EE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8C28"/>
                </a:solidFill>
              </a:defRPr>
            </a:pPr>
            <a:r>
              <a:rPr sz="1275" b="1">
                <a:solidFill>
                  <a:srgbClr val="F28C28"/>
                </a:solidFill>
              </a:rPr>
              <a:t>HYDROPONICS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02191-373F-4A7D-BE72-118250C2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Repeat plant observations</a:t>
            </a:r>
          </a:p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and growth tracking</a:t>
            </a:r>
          </a:p>
        </p:txBody>
      </p:sp>
      <p:sp>
        <p:nvSpPr>
          <p:cNvPr id="11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E24703D7-2A09-459B-A16D-0C4776A8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181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A3EE3-6EFE-4B0F-BA9F-2FD4FCEA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TREE OR CROP-FIELD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31DA-1C14-42F7-A72C-67F1117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575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relevant real photo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5BF65-96CF-41A4-A412-18B58B2E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6B4F"/>
                </a:solidFill>
              </a:defRPr>
            </a:pPr>
            <a:r>
              <a:rPr sz="1275" b="1">
                <a:solidFill>
                  <a:srgbClr val="0E6B4F"/>
                </a:solidFill>
              </a:rPr>
              <a:t>TREES AND CROPS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F1BD9-80E4-4BC1-9D1B-3A7F6CFA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Inventory, canopy change,</a:t>
            </a:r>
          </a:p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and targeted field checks</a:t>
            </a:r>
          </a:p>
        </p:txBody>
      </p:sp>
      <p:sp>
        <p:nvSpPr>
          <p:cNvPr id="16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AD21D035-6160-4891-BFE1-5B2AE98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3181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D8E6-8A05-41CC-947D-2058B0A3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POULTRY OR LIVESTOCK-FACILITY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D9BE8-69C1-47FA-8281-F77EAE54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575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relevant real photo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23717-8846-45A7-AEE1-68FDE6E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6B4F"/>
                </a:solidFill>
              </a:defRPr>
            </a:pPr>
            <a:r>
              <a:rPr sz="1275" b="1">
                <a:solidFill>
                  <a:srgbClr val="0E6B4F"/>
                </a:solidFill>
              </a:rPr>
              <a:t>ANIMAL FACILITIES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293BB-AF14-437D-85ED-C1A92DD8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Monitor zones and operations,</a:t>
            </a:r>
          </a:p>
          <a:p xmlns:a="http://schemas.openxmlformats.org/drawingml/2006/main">
            <a:pPr algn="ctr">
              <a:defRPr sz="1275">
                <a:solidFill>
                  <a:srgbClr val="173B2C"/>
                </a:solidFill>
              </a:defRPr>
            </a:pPr>
            <a:r>
              <a:rPr sz="1275">
                <a:solidFill>
                  <a:srgbClr val="173B2C"/>
                </a:solidFill>
              </a:rPr>
              <a:t>subject to welfare validation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339FDC53-0428-49B0-942E-8CFC7F2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24550"/>
            <a:ext cx="4953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DC"/>
          </a:solidFill>
          <a:ln xmlns:a="http://schemas.openxmlformats.org/drawingml/2006/main" w="0">
            <a:solidFill>
              <a:srgbClr val="DDE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FUTURE PILOTS, VALIDATED WITH CUSTOMERS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0A905-CA8F-45B9-B410-CFD2915F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The shared workflow: observe, organize data, analyze with AI, and return a useful decision.</a:t>
            </a:r>
          </a:p>
        </p:txBody>
      </p:sp>
    </p:spTree>
    <p:extLst>
      <p:ext uri="{BB962C8B-B14F-4D97-AF65-F5344CB8AC3E}">
        <p14:creationId xmlns:p14="http://schemas.microsoft.com/office/powerpoint/2010/main" val="678185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2C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2BE08831-585D-43D0-9960-EFFD0EE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01AB-7195-40B6-94BC-D9DE017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TEAM AND PROTOTYPE PHOTO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D1082-F2C1-45A3-802B-724962D8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field-test or team photo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ECBE4-198C-4D3A-A560-46933F5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1BC16-2E8C-4283-A2BA-1A1DAFE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Our next step: prove value with local farms.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14C7A-35E6-4816-B567-9BF8887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A3A5E-F80D-4287-B749-E0C4715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D5C5"/>
                </a:solidFill>
              </a:defRPr>
            </a:pPr>
            <a:r>
              <a:rPr sz="1425" b="1">
                <a:solidFill>
                  <a:srgbClr val="B9D5C5"/>
                </a:solidFill>
              </a:rPr>
              <a:t>We are seeking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80F3D-33B5-482A-8A06-CD1848D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D5F4D-0FB0-4B3A-9D7D-225A92DB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Pilot citrus farms or cooperatives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3E29E-E6AC-47E0-B517-08EF206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5CDFE-61DA-47A6-90F6-999A3EA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Agricultural mentors and validation partners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59588-F38C-4158-AE16-7A58555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37E2-FC83-4821-B3C2-E3233D84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Support for field testing, data collection, and model improvement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4784A-FD04-4D2C-9EEE-BF012DD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D6A9"/>
                </a:solidFill>
              </a:defRPr>
            </a:pPr>
            <a:r>
              <a:rPr sz="1500" b="1">
                <a:solidFill>
                  <a:srgbClr val="F7D6A9"/>
                </a:solidFill>
              </a:rPr>
              <a:t>SUCCESS = A farm uses our report to make a better harvest decision and pays to use it again.</a:t>
            </a:r>
          </a:p>
        </p:txBody>
      </p:sp>
    </p:spTree>
    <p:extLst>
      <p:ext uri="{BB962C8B-B14F-4D97-AF65-F5344CB8AC3E}">
        <p14:creationId xmlns:p14="http://schemas.microsoft.com/office/powerpoint/2010/main" val="31132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2C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F98E7-FFBE-4552-ACA3-EE737342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mage-placeholder">
            <a:extLst xmlns:a="http://schemas.openxmlformats.org/drawingml/2006/main">
              <a:ext uri="{FF2B5EF4-FFF2-40B4-BE49-F238E27FC236}">
                <a16:creationId xmlns:a16="http://schemas.microsoft.com/office/drawing/2014/main" id="{AB9EFA89-E9A9-4574-B125-A6492C5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DC"/>
          </a:solidFill>
          <a:ln xmlns:a="http://schemas.openxmlformats.org/drawingml/2006/main" w="19050">
            <a:solidFill>
              <a:srgbClr val="23835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A7707-893C-439D-A3DE-83B9BBA7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86100"/>
            <a:ext cx="1173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CLOSING BACKGROUND PHOTO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496B6-97DA-422B-9DFF-88011DF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448050"/>
            <a:ext cx="1173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citrus-farm sunrise or team field-test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9453-3D69-4710-B690-F025B66F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C20">
              <a:alpha val="9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0A05D-E9E0-49C6-928F-BDD36E1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CCC82-D5C4-4BD7-A299-869C6EA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future of farming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will not be guessed.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It will be measured.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4009E-8B79-44BA-9A27-9E51E617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D5C5"/>
                </a:solidFill>
              </a:defRPr>
            </a:pPr>
            <a:r>
              <a:rPr sz="1275" b="1">
                <a:solidFill>
                  <a:srgbClr val="B9D5C5"/>
                </a:solidFill>
              </a:rPr>
              <a:t>GROWKITA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0D27-3E21-47CF-8FA4-1F12EC63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AI-powered farm intelligence, starting in Nueva Vizcaya.</a:t>
            </a:r>
          </a:p>
        </p:txBody>
      </p:sp>
    </p:spTree>
    <p:extLst>
      <p:ext uri="{BB962C8B-B14F-4D97-AF65-F5344CB8AC3E}">
        <p14:creationId xmlns:p14="http://schemas.microsoft.com/office/powerpoint/2010/main" val="548646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2026-08-10T00:49:24.9000000Z</dcterms:created>
  <dcterms:modified xsi:type="dcterms:W3CDTF">2026-08-10T00:49:24.9000000Z</dcterms:modified>
</coreProperties>
</file>