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decision, not the drone.</a:t>
            </a:r>
          </a:p>
          <a:p>
            <a:r>
              <a:t>GrowKita helps farms plan harvest and buyer commitments before the exact fruit volume is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Agriculture is entering an AI era, but local farms need practical tools, not technology for its own sake.</a:t>
            </a:r>
          </a:p>
          <a:p>
            <a:r>
              <a:t>Our first step is citrus yield estimation in Nueva Vizcaya.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Nueva Vizcaya's Perante orange focus makes this a practical local entry point.</a:t>
            </a:r>
          </a:p>
          <a:p>
            <a:r>
              <a:t>[Sources]</a:t>
            </a:r>
          </a:p>
          <a:p>
            <a:r>
              <a:t>- PROJECT_OVERVIEW.md (local crop focus)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issue is not that farmers lack information. They lack timely, consistent information at the scale needed for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 is a useful report and planning insight. The drone is how we collect consistent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Honesty builds trust: leaves and branches can hide fruit, so we use the phrase visible fruit-count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begin with paid results because that keeps quality under our control.</a:t>
            </a:r>
          </a:p>
          <a:p>
            <a:r>
              <a:t>Seasonal monitoring is the repeat-revenue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Anyone can buy a drone. The defensible asset is local data plus a repeatable workflow that produces useful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build a business by reselling a farm's private records.</a:t>
            </a:r>
          </a:p>
          <a:p>
            <a:r>
              <a:t>With consent, data improves the AI. Later, aggregated and anonymized insights may serve co-ops, buyers, and agricultural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platform is scalable because the workflow repeats, but we expand only after the first market is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are asking for a chance to prove a useful local product with measurable farm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original GrowKita closing statement.</a:t>
            </a:r>
          </a:p>
          <a:p>
            <a:r>
              <a:t>End on the mission: local data, AI, and practical automation for better farm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C20"/>
          </a:solidFill>
          <a:ln w="0">
            <a:noFill/>
            <a:prstDash val="solid"/>
          </a:ln>
        </p:spPr>
      </p:sp>
      <p:sp>
        <p:nvSpPr>
          <p:cNvPr id="2" name="image-placeholder"/>
          <p:cNvSpPr>
            <a:spLocks noGrp="1"/>
          </p:cNvSpPr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7562850" y="3086100"/>
            <a:ext cx="440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HERO FARM PHOTO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562850" y="3448050"/>
            <a:ext cx="440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Perante citrus tree or farm landscape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7715250" cy="6858000"/>
          </a:xfrm>
          <a:prstGeom prst="rect">
            <a:avLst/>
          </a:prstGeom>
          <a:solidFill>
            <a:srgbClr val="0C2C20"/>
          </a:solidFill>
          <a:ln w="0">
            <a:noFill/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1428750"/>
            <a:ext cx="838200" cy="6667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brand"/>
          <p:cNvSpPr>
            <a:spLocks noGrp="1"/>
          </p:cNvSpPr>
          <p:nvPr/>
        </p:nvSpPr>
        <p:spPr>
          <a:xfrm>
            <a:off x="685800" y="1771650"/>
            <a:ext cx="571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GrowKita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2667000"/>
            <a:ext cx="561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DDEEDC"/>
                </a:solidFill>
              </a:defRPr>
            </a:pPr>
            <a:r>
              <a:rPr sz="2100">
                <a:solidFill>
                  <a:srgbClr val="DDEEDC"/>
                </a:solidFill>
              </a:rPr>
              <a:t>AI-powered farm intelligence.</a:t>
            </a:r>
            <a:endParaRPr sz="2100">
              <a:solidFill>
                <a:srgbClr val="DDEEDC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85800" y="3314700"/>
            <a:ext cx="571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Starting with citrus yield estimation</a:t>
            </a:r>
            <a:endParaRPr sz="2250" b="1">
              <a:solidFill>
                <a:srgbClr val="FFFFFF"/>
              </a:solidFill>
            </a:endParaRPr>
          </a:p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for Nueva Vizcaya farms.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59055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9D5C5"/>
                </a:solidFill>
              </a:defRPr>
            </a:pPr>
            <a:r>
              <a:rPr sz="1125">
                <a:solidFill>
                  <a:srgbClr val="B9D5C5"/>
                </a:solidFill>
              </a:rPr>
              <a:t>NVSU Business Pitch Competition 2026</a:t>
            </a:r>
            <a:endParaRPr sz="1125">
              <a:solidFill>
                <a:srgbClr val="B9D5C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5800" y="62293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B9D5C5"/>
                </a:solidFill>
              </a:defRPr>
            </a:pPr>
            <a:r>
              <a:rPr sz="900" b="1">
                <a:solidFill>
                  <a:srgbClr val="B9D5C5"/>
                </a:solidFill>
              </a:rPr>
              <a:t>TEAM NAME  |  NUEVA VIZCAYA STATE UNIVERSITY</a:t>
            </a:r>
            <a:endParaRPr sz="900" b="1">
              <a:solidFill>
                <a:srgbClr val="B9D5C5"/>
              </a:solidFill>
            </a:endParaRPr>
          </a:p>
        </p:txBody>
      </p:sp>
      <p:pic>
        <p:nvPicPr>
          <p:cNvPr id="13" name="Picture 12" descr="9350a2bb74728886ea99b57543ea78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9690" y="0"/>
            <a:ext cx="45643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OUR VISION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Practical AI-powered farm intelligence for Philippine agriculture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302895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02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7526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GrowKita turns field observations into decisions that farms can act on.</a:t>
            </a:r>
            <a:endParaRPr sz="1800">
              <a:solidFill>
                <a:srgbClr val="667085"/>
              </a:solidFill>
            </a:endParaRPr>
          </a:p>
        </p:txBody>
      </p:sp>
      <p:sp>
        <p:nvSpPr>
          <p:cNvPr id="6" name="image-placeholder"/>
          <p:cNvSpPr>
            <a:spLocks noGrp="1"/>
          </p:cNvSpPr>
          <p:nvPr/>
        </p:nvSpPr>
        <p:spPr>
          <a:xfrm>
            <a:off x="7848600" y="1619250"/>
            <a:ext cx="3657600" cy="371475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077200" y="3133725"/>
            <a:ext cx="320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FARM LANDSCAPE OR AERIAL IMAGE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077200" y="3495675"/>
            <a:ext cx="320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Use a real wide farm photo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685800" y="2800350"/>
            <a:ext cx="704850" cy="7048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29813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5800" y="3714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Observe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85800" y="40576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Capture farm conditions</a:t>
            </a:r>
            <a:endParaRPr sz="1200">
              <a:solidFill>
                <a:srgbClr val="667085"/>
              </a:solidFill>
            </a:endParaRPr>
          </a:p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with guided monitoring</a:t>
            </a:r>
            <a:endParaRPr sz="1200">
              <a:solidFill>
                <a:srgbClr val="667085"/>
              </a:solidFill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2895600" y="2800350"/>
            <a:ext cx="704850" cy="70485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895600" y="29813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895600" y="3714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Understand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895600" y="40576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Use AI and computer vision</a:t>
            </a:r>
            <a:endParaRPr sz="1200">
              <a:solidFill>
                <a:srgbClr val="667085"/>
              </a:solidFill>
            </a:endParaRPr>
          </a:p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to analyze what is seen</a:t>
            </a:r>
            <a:endParaRPr sz="1200">
              <a:solidFill>
                <a:srgbClr val="667085"/>
              </a:solidFill>
            </a:endParaR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5105400" y="2800350"/>
            <a:ext cx="704850" cy="70485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5105400" y="2981325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105400" y="3714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Act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05400" y="40576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Deliver clear insights</a:t>
            </a:r>
            <a:endParaRPr sz="1200">
              <a:solidFill>
                <a:srgbClr val="667085"/>
              </a:solidFill>
            </a:endParaRPr>
          </a:p>
          <a:p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for farm decisions</a:t>
            </a:r>
            <a:endParaRPr sz="1200">
              <a:solidFill>
                <a:srgbClr val="667085"/>
              </a:solidFill>
            </a:endParaRPr>
          </a:p>
        </p:txBody>
      </p:sp>
      <p:sp>
        <p:nvSpPr>
          <p:cNvPr id="21" name="label"/>
          <p:cNvSpPr>
            <a:spLocks noGrp="1"/>
          </p:cNvSpPr>
          <p:nvPr/>
        </p:nvSpPr>
        <p:spPr>
          <a:xfrm>
            <a:off x="685800" y="5238750"/>
            <a:ext cx="3390900" cy="342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0">
            <a:solidFill>
              <a:srgbClr val="FFF0D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FIRST STEP: CITRUS YIELD ESTIMATION</a:t>
            </a:r>
            <a:endParaRPr sz="975" b="1">
              <a:solidFill>
                <a:srgbClr val="F28C28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A platform vision, proven through one focused first product.</a:t>
            </a:r>
            <a:endParaRPr sz="825">
              <a:solidFill>
                <a:srgbClr val="667085"/>
              </a:solidFill>
            </a:endParaRPr>
          </a:p>
        </p:txBody>
      </p:sp>
      <p:pic>
        <p:nvPicPr>
          <p:cNvPr id="24" name="Picture 23" descr="idyllic-farm-landscape-stockcak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9690" y="1557020"/>
            <a:ext cx="4041140" cy="404114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WHY CITRUS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Start local. Prove value. Then scale.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03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image-placeholder"/>
          <p:cNvSpPr>
            <a:spLocks noGrp="1"/>
          </p:cNvSpPr>
          <p:nvPr/>
        </p:nvSpPr>
        <p:spPr>
          <a:xfrm>
            <a:off x="685800" y="1714500"/>
            <a:ext cx="4095750" cy="34290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3086100"/>
            <a:ext cx="3638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PERANTE ORANGES ON TREE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344805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clear local citrus photo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8" name="map-placeholder"/>
          <p:cNvSpPr>
            <a:spLocks noGrp="1"/>
          </p:cNvSpPr>
          <p:nvPr/>
        </p:nvSpPr>
        <p:spPr>
          <a:xfrm>
            <a:off x="5162550" y="1714500"/>
            <a:ext cx="2762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429250" y="2990850"/>
            <a:ext cx="2228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NUEVA VIZCAYA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448300" y="34099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PASTE A SIMPLE</a:t>
            </a:r>
            <a:endParaRPr sz="1200" b="1">
              <a:solidFill>
                <a:srgbClr val="667085"/>
              </a:solidFill>
            </a:endParaRPr>
          </a:p>
          <a:p>
            <a:pPr algn="ctr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PROVINCE MAP HERE</a:t>
            </a:r>
            <a:endParaRPr sz="1200" b="1">
              <a:solidFill>
                <a:srgbClr val="66708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382000" y="184785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Citrus gives GrowKita a focused first market.</a:t>
            </a:r>
            <a:endParaRPr sz="1950" b="1">
              <a:solidFill>
                <a:srgbClr val="173B2C"/>
              </a:solidFill>
            </a:endParaR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8401050" y="29337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629650" y="28384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Build a local, crop-specific AI dataset</a:t>
            </a:r>
            <a:endParaRPr sz="1350">
              <a:solidFill>
                <a:srgbClr val="173B2C"/>
              </a:solidFill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8401050" y="36195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629650" y="35242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Work with nearby farms and agricultural partners</a:t>
            </a:r>
            <a:endParaRPr sz="1350">
              <a:solidFill>
                <a:srgbClr val="173B2C"/>
              </a:solidFill>
            </a:endParaR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8401050" y="43053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629650" y="4210050"/>
            <a:ext cx="283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173B2C"/>
                </a:solidFill>
              </a:defRPr>
            </a:pPr>
            <a:r>
              <a:rPr sz="1350">
                <a:solidFill>
                  <a:srgbClr val="173B2C"/>
                </a:solidFill>
              </a:rPr>
              <a:t>Prove farmers will pay for yield insights</a:t>
            </a:r>
            <a:endParaRPr sz="1350">
              <a:solidFill>
                <a:srgbClr val="173B2C"/>
              </a:solidFill>
            </a:endParaRPr>
          </a:p>
        </p:txBody>
      </p:sp>
      <p:sp>
        <p:nvSpPr>
          <p:cNvPr id="18" name="label"/>
          <p:cNvSpPr>
            <a:spLocks noGrp="1"/>
          </p:cNvSpPr>
          <p:nvPr/>
        </p:nvSpPr>
        <p:spPr>
          <a:xfrm>
            <a:off x="685800" y="5505450"/>
            <a:ext cx="3886200" cy="342900"/>
          </a:xfrm>
          <a:prstGeom prst="roundRect">
            <a:avLst>
              <a:gd name="adj" fmla="val 50000"/>
            </a:avLst>
          </a:prstGeom>
          <a:solidFill>
            <a:srgbClr val="DDEEDC"/>
          </a:solidFill>
          <a:ln w="0">
            <a:solidFill>
              <a:srgbClr val="DDEEDC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LOCAL CROP. LOCAL DATA. LOCAL PROOF.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First product: citrus yield intelligence.</a:t>
            </a:r>
            <a:endParaRPr sz="825">
              <a:solidFill>
                <a:srgbClr val="667085"/>
              </a:solidFill>
            </a:endParaRPr>
          </a:p>
        </p:txBody>
      </p:sp>
      <p:pic>
        <p:nvPicPr>
          <p:cNvPr id="21" name="Picture 20" descr="22"/>
          <p:cNvPicPr>
            <a:picLocks noChangeAspect="1"/>
          </p:cNvPicPr>
          <p:nvPr/>
        </p:nvPicPr>
        <p:blipFill>
          <a:blip r:embed="rId1"/>
          <a:srcRect b="36699"/>
          <a:stretch>
            <a:fillRect/>
          </a:stretch>
        </p:blipFill>
        <p:spPr>
          <a:xfrm>
            <a:off x="667385" y="1677035"/>
            <a:ext cx="4121785" cy="3479800"/>
          </a:xfrm>
          <a:prstGeom prst="rect">
            <a:avLst/>
          </a:prstGeom>
        </p:spPr>
      </p:pic>
      <p:pic>
        <p:nvPicPr>
          <p:cNvPr id="22" name="Picture 21" descr="5415ed65a9583b58f7adc7cf52143158.png_720x720q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5" y="1557020"/>
            <a:ext cx="2763520" cy="3879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THE PROBLEM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Before harvest, farms are forced to estimate.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04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image-placeholder"/>
          <p:cNvSpPr>
            <a:spLocks noGrp="1"/>
          </p:cNvSpPr>
          <p:nvPr/>
        </p:nvSpPr>
        <p:spPr>
          <a:xfrm>
            <a:off x="7143750" y="1619250"/>
            <a:ext cx="4362450" cy="38100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372350" y="318135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WORKER INSPECTING FRUIT TREE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72350" y="35433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field-inspection photo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18288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Farms need earlier answers to three costly questions.</a:t>
            </a:r>
            <a:endParaRPr sz="1800">
              <a:solidFill>
                <a:srgbClr val="667085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85800" y="2628900"/>
            <a:ext cx="171450" cy="5143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104900" y="2695575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How much fruit can we expect?</a:t>
            </a:r>
            <a:endParaRPr sz="1800" b="1">
              <a:solidFill>
                <a:srgbClr val="173B2C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5800" y="3505200"/>
            <a:ext cx="171450" cy="514350"/>
          </a:xfrm>
          <a:prstGeom prst="rect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104900" y="3571875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How many workers should we prepare?</a:t>
            </a:r>
            <a:endParaRPr sz="1800" b="1">
              <a:solidFill>
                <a:srgbClr val="173B2C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85800" y="4381500"/>
            <a:ext cx="171450" cy="514350"/>
          </a:xfrm>
          <a:prstGeom prst="rect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104900" y="4448175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3B2C"/>
                </a:solidFill>
              </a:defRPr>
            </a:pPr>
            <a:r>
              <a:rPr sz="1800" b="1">
                <a:solidFill>
                  <a:srgbClr val="173B2C"/>
                </a:solidFill>
              </a:rPr>
              <a:t>What volume can we commit to buyers?</a:t>
            </a:r>
            <a:endParaRPr sz="1800" b="1">
              <a:solidFill>
                <a:srgbClr val="173B2C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85800" y="55054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667085"/>
                </a:solidFill>
              </a:defRPr>
            </a:pPr>
            <a:r>
              <a:rPr sz="1500">
                <a:solidFill>
                  <a:srgbClr val="667085"/>
                </a:solidFill>
              </a:rPr>
              <a:t>Manual counting is slow, inconsistent, and difficult across many trees.</a:t>
            </a:r>
            <a:endParaRPr sz="1500">
              <a:solidFill>
                <a:srgbClr val="667085"/>
              </a:solidFill>
            </a:endParaRPr>
          </a:p>
        </p:txBody>
      </p:sp>
      <p:pic>
        <p:nvPicPr>
          <p:cNvPr id="17" name="Picture 16" descr="1-2-744x7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0" y="1619250"/>
            <a:ext cx="4359910" cy="4359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THE SOLUTION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A scan becomes a harvest estimate.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05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77165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GrowKita sells a decision-ready report, not simply a drone flight.</a:t>
            </a:r>
            <a:endParaRPr sz="1800">
              <a:solidFill>
                <a:srgbClr val="667085"/>
              </a:solidFill>
            </a:endParaRPr>
          </a:p>
        </p:txBody>
      </p:sp>
      <p:sp>
        <p:nvSpPr>
          <p:cNvPr id="6" name="process-arrow"/>
          <p:cNvSpPr>
            <a:spLocks noGrp="1"/>
          </p:cNvSpPr>
          <p:nvPr/>
        </p:nvSpPr>
        <p:spPr>
          <a:xfrm>
            <a:off x="2914650" y="3409950"/>
            <a:ext cx="6667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process-arrow"/>
          <p:cNvSpPr>
            <a:spLocks noGrp="1"/>
          </p:cNvSpPr>
          <p:nvPr/>
        </p:nvSpPr>
        <p:spPr>
          <a:xfrm>
            <a:off x="5715000" y="3409950"/>
            <a:ext cx="6667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8" name="process-arrow"/>
          <p:cNvSpPr>
            <a:spLocks noGrp="1"/>
          </p:cNvSpPr>
          <p:nvPr/>
        </p:nvSpPr>
        <p:spPr>
          <a:xfrm>
            <a:off x="8515350" y="3409950"/>
            <a:ext cx="6667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9" name="process-node"/>
          <p:cNvSpPr>
            <a:spLocks noGrp="1"/>
          </p:cNvSpPr>
          <p:nvPr/>
        </p:nvSpPr>
        <p:spPr>
          <a:xfrm>
            <a:off x="685800" y="2857500"/>
            <a:ext cx="2152650" cy="1409700"/>
          </a:xfrm>
          <a:prstGeom prst="roundRect">
            <a:avLst>
              <a:gd name="adj" fmla="val 8108"/>
            </a:avLst>
          </a:prstGeom>
          <a:solidFill>
            <a:srgbClr val="DDEEDC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57250" y="31623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Guided scan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38200" y="360045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Scan the citrus</a:t>
            </a:r>
            <a:endParaRPr sz="1050">
              <a:solidFill>
                <a:srgbClr val="173B2C"/>
              </a:solidFill>
            </a:endParaRPr>
          </a:p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farm block</a:t>
            </a:r>
            <a:endParaRPr sz="1050">
              <a:solidFill>
                <a:srgbClr val="173B2C"/>
              </a:solidFill>
            </a:endParaRPr>
          </a:p>
        </p:txBody>
      </p:sp>
      <p:sp>
        <p:nvSpPr>
          <p:cNvPr id="12" name="process-node"/>
          <p:cNvSpPr>
            <a:spLocks noGrp="1"/>
          </p:cNvSpPr>
          <p:nvPr/>
        </p:nvSpPr>
        <p:spPr>
          <a:xfrm>
            <a:off x="3486150" y="2857500"/>
            <a:ext cx="2152650" cy="1409700"/>
          </a:xfrm>
          <a:prstGeom prst="roundRect">
            <a:avLst>
              <a:gd name="adj" fmla="val 8108"/>
            </a:avLst>
          </a:prstGeom>
          <a:solidFill>
            <a:srgbClr val="FFF0DB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657600" y="31623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AI detection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638550" y="360045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Detect visible</a:t>
            </a:r>
            <a:endParaRPr sz="1050">
              <a:solidFill>
                <a:srgbClr val="173B2C"/>
              </a:solidFill>
            </a:endParaRPr>
          </a:p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fruit in images</a:t>
            </a:r>
            <a:endParaRPr sz="1050">
              <a:solidFill>
                <a:srgbClr val="173B2C"/>
              </a:solidFill>
            </a:endParaRPr>
          </a:p>
        </p:txBody>
      </p:sp>
      <p:sp>
        <p:nvSpPr>
          <p:cNvPr id="15" name="process-node"/>
          <p:cNvSpPr>
            <a:spLocks noGrp="1"/>
          </p:cNvSpPr>
          <p:nvPr/>
        </p:nvSpPr>
        <p:spPr>
          <a:xfrm>
            <a:off x="6286500" y="2857500"/>
            <a:ext cx="21526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457950" y="31623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73B2C"/>
                </a:solidFill>
              </a:defRPr>
            </a:pPr>
            <a:r>
              <a:rPr sz="1575" b="1">
                <a:solidFill>
                  <a:srgbClr val="173B2C"/>
                </a:solidFill>
              </a:rPr>
              <a:t>Farm report</a:t>
            </a:r>
            <a:endParaRPr sz="1575" b="1">
              <a:solidFill>
                <a:srgbClr val="173B2C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438900" y="360045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Yield estimate</a:t>
            </a:r>
            <a:endParaRPr sz="1050">
              <a:solidFill>
                <a:srgbClr val="173B2C"/>
              </a:solidFill>
            </a:endParaRPr>
          </a:p>
          <a:p>
            <a:pPr algn="ctr">
              <a:defRPr sz="1050">
                <a:solidFill>
                  <a:srgbClr val="173B2C"/>
                </a:solidFill>
              </a:defRPr>
            </a:pPr>
            <a:r>
              <a:rPr sz="1050">
                <a:solidFill>
                  <a:srgbClr val="173B2C"/>
                </a:solidFill>
              </a:rPr>
              <a:t>and farm map</a:t>
            </a:r>
            <a:endParaRPr sz="1050">
              <a:solidFill>
                <a:srgbClr val="173B2C"/>
              </a:solidFill>
            </a:endParaRPr>
          </a:p>
        </p:txBody>
      </p:sp>
      <p:sp>
        <p:nvSpPr>
          <p:cNvPr id="18" name="process-node"/>
          <p:cNvSpPr>
            <a:spLocks noGrp="1"/>
          </p:cNvSpPr>
          <p:nvPr/>
        </p:nvSpPr>
        <p:spPr>
          <a:xfrm>
            <a:off x="9086850" y="2857500"/>
            <a:ext cx="2152650" cy="1409700"/>
          </a:xfrm>
          <a:prstGeom prst="roundRect">
            <a:avLst>
              <a:gd name="adj" fmla="val 8108"/>
            </a:avLst>
          </a:prstGeom>
          <a:solidFill>
            <a:srgbClr val="0E6B4F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258300" y="31623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Better plan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239250" y="360045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Harvest, labor,</a:t>
            </a:r>
            <a:endParaRPr sz="1050">
              <a:solidFill>
                <a:srgbClr val="FFFFFF"/>
              </a:solidFill>
            </a:endParaRP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packing, and sales</a:t>
            </a:r>
            <a:endParaRPr sz="105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The early workflow is operated or supervised by GrowKita to protect data quality.</a:t>
            </a:r>
            <a:endParaRPr sz="825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WHAT THE FARM RECEIVES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A report a farm can act on.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06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image-placeholder"/>
          <p:cNvSpPr>
            <a:spLocks noGrp="1"/>
          </p:cNvSpPr>
          <p:nvPr/>
        </p:nvSpPr>
        <p:spPr>
          <a:xfrm>
            <a:off x="685800" y="1752600"/>
            <a:ext cx="5810250" cy="36957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3257550"/>
            <a:ext cx="535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DASHBOARD SCREENSHOT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3619500"/>
            <a:ext cx="535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your actual project dashboard or mockup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086600" y="1847850"/>
            <a:ext cx="400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73B2C"/>
                </a:solidFill>
              </a:defRPr>
            </a:pPr>
            <a:r>
              <a:rPr sz="2100" b="1">
                <a:solidFill>
                  <a:srgbClr val="173B2C"/>
                </a:solidFill>
              </a:rPr>
              <a:t>Clear outputs for a better harvest decision.</a:t>
            </a:r>
            <a:endParaRPr sz="2100" b="1">
              <a:solidFill>
                <a:srgbClr val="173B2C"/>
              </a:solidFill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7105650" y="28956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334250" y="2800350"/>
            <a:ext cx="3771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Estimated visible fruit count</a:t>
            </a:r>
            <a:endParaRPr sz="1500">
              <a:solidFill>
                <a:srgbClr val="173B2C"/>
              </a:solidFill>
            </a:endParaR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7105650" y="348615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334250" y="3390900"/>
            <a:ext cx="3771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Map by farm block</a:t>
            </a:r>
            <a:endParaRPr sz="1500">
              <a:solidFill>
                <a:srgbClr val="173B2C"/>
              </a:solidFill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7105650" y="40767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334250" y="3981450"/>
            <a:ext cx="3771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Areas needing a manual check</a:t>
            </a:r>
            <a:endParaRPr sz="1500">
              <a:solidFill>
                <a:srgbClr val="173B2C"/>
              </a:solidFill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7105650" y="466725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7334250" y="4572000"/>
            <a:ext cx="3771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73B2C"/>
                </a:solidFill>
              </a:defRPr>
            </a:pPr>
            <a:r>
              <a:rPr sz="1500">
                <a:solidFill>
                  <a:srgbClr val="173B2C"/>
                </a:solidFill>
              </a:rPr>
              <a:t>Scan history for seasonal comparison</a:t>
            </a:r>
            <a:endParaRPr sz="1500">
              <a:solidFill>
                <a:srgbClr val="173B2C"/>
              </a:solidFill>
            </a:endParaRPr>
          </a:p>
        </p:txBody>
      </p:sp>
      <p:sp>
        <p:nvSpPr>
          <p:cNvPr id="17" name="label"/>
          <p:cNvSpPr>
            <a:spLocks noGrp="1"/>
          </p:cNvSpPr>
          <p:nvPr/>
        </p:nvSpPr>
        <p:spPr>
          <a:xfrm>
            <a:off x="7086600" y="5410200"/>
            <a:ext cx="2952750" cy="342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0">
            <a:solidFill>
              <a:srgbClr val="FFF0D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VISIBLE FRUIT-COUNT ESTIMATE</a:t>
            </a:r>
            <a:endParaRPr sz="975" b="1">
              <a:solidFill>
                <a:srgbClr val="F28C28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Be precise: results are a visible fruit-count estimate, not a guaranteed total harvest.</a:t>
            </a:r>
            <a:endParaRPr sz="825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BUSINESS MODEL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Start with a service. Grow into a platform.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07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revenue-stage"/>
          <p:cNvSpPr>
            <a:spLocks noGrp="1"/>
          </p:cNvSpPr>
          <p:nvPr/>
        </p:nvSpPr>
        <p:spPr>
          <a:xfrm>
            <a:off x="685800" y="1962150"/>
            <a:ext cx="3181350" cy="2476500"/>
          </a:xfrm>
          <a:prstGeom prst="rect">
            <a:avLst/>
          </a:prstGeom>
          <a:solidFill>
            <a:srgbClr val="FFF0DB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098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NOW</a:t>
            </a:r>
            <a:endParaRPr sz="975" b="1">
              <a:solidFill>
                <a:srgbClr val="F28C28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2667000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Paid farm scan</a:t>
            </a:r>
            <a:endParaRPr sz="1950" b="1">
              <a:solidFill>
                <a:srgbClr val="173B2C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34671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We operate or supervise</a:t>
            </a:r>
            <a:endParaRPr sz="1275">
              <a:solidFill>
                <a:srgbClr val="667085"/>
              </a:solidFill>
            </a:endParaRPr>
          </a:p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the scan and report.</a:t>
            </a:r>
            <a:endParaRPr sz="1275">
              <a:solidFill>
                <a:srgbClr val="667085"/>
              </a:solidFill>
            </a:endParaRPr>
          </a:p>
        </p:txBody>
      </p:sp>
      <p:sp>
        <p:nvSpPr>
          <p:cNvPr id="9" name="revenue-stage"/>
          <p:cNvSpPr>
            <a:spLocks noGrp="1"/>
          </p:cNvSpPr>
          <p:nvPr/>
        </p:nvSpPr>
        <p:spPr>
          <a:xfrm>
            <a:off x="4286250" y="1962150"/>
            <a:ext cx="3181350" cy="2476500"/>
          </a:xfrm>
          <a:prstGeom prst="rect">
            <a:avLst/>
          </a:prstGeom>
          <a:solidFill>
            <a:srgbClr val="DDEEDC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514850" y="22098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NEXT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14850" y="2667000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Seasonal monitoring</a:t>
            </a:r>
            <a:endParaRPr sz="1950" b="1">
              <a:solidFill>
                <a:srgbClr val="173B2C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514850" y="34671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Repeat scans, history,</a:t>
            </a:r>
            <a:endParaRPr sz="1275">
              <a:solidFill>
                <a:srgbClr val="667085"/>
              </a:solidFill>
            </a:endParaRPr>
          </a:p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and comparison reports.</a:t>
            </a:r>
            <a:endParaRPr sz="1275">
              <a:solidFill>
                <a:srgbClr val="667085"/>
              </a:solidFill>
            </a:endParaRPr>
          </a:p>
        </p:txBody>
      </p:sp>
      <p:sp>
        <p:nvSpPr>
          <p:cNvPr id="13" name="revenue-stage"/>
          <p:cNvSpPr>
            <a:spLocks noGrp="1"/>
          </p:cNvSpPr>
          <p:nvPr/>
        </p:nvSpPr>
        <p:spPr>
          <a:xfrm>
            <a:off x="7886700" y="1962150"/>
            <a:ext cx="31813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115300" y="22098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LATER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115300" y="2667000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73B2C"/>
                </a:solidFill>
              </a:defRPr>
            </a:pPr>
            <a:r>
              <a:rPr sz="1950" b="1">
                <a:solidFill>
                  <a:srgbClr val="173B2C"/>
                </a:solidFill>
              </a:rPr>
              <a:t>Managed on-site system</a:t>
            </a:r>
            <a:endParaRPr sz="1950" b="1">
              <a:solidFill>
                <a:srgbClr val="173B2C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115300" y="346710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Guided farm-staff scans</a:t>
            </a:r>
            <a:endParaRPr sz="1275">
              <a:solidFill>
                <a:srgbClr val="667085"/>
              </a:solidFill>
            </a:endParaRPr>
          </a:p>
          <a:p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with software and support.</a:t>
            </a:r>
            <a:endParaRPr sz="1275">
              <a:solidFill>
                <a:srgbClr val="667085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85800" y="4991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Initial price tests</a:t>
            </a:r>
            <a:endParaRPr sz="1500" b="1">
              <a:solidFill>
                <a:srgbClr val="173B2C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5800" y="53340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Pilot: PHP 1,500-3,000     |     Farm/block scan: PHP 5,000-15,000     |     Large/co-op/custom: PHP 20,000+</a:t>
            </a:r>
            <a:endParaRPr sz="1350">
              <a:solidFill>
                <a:srgbClr val="667085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Prices are hypotheses to validate against operating cost and customer willingness to pay.</a:t>
            </a:r>
            <a:endParaRPr sz="825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WHY WE CAN WIN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Our advantage is the system, not the drone.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08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image-placeholder"/>
          <p:cNvSpPr>
            <a:spLocks noGrp="1"/>
          </p:cNvSpPr>
          <p:nvPr/>
        </p:nvSpPr>
        <p:spPr>
          <a:xfrm>
            <a:off x="685800" y="1809750"/>
            <a:ext cx="3143250" cy="329565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3114675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PERANTE CITRUS OR FIELD TEST PHOTO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14400" y="3476625"/>
            <a:ext cx="268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Use a real project or local farm image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8" name="center"/>
          <p:cNvSpPr>
            <a:spLocks noGrp="1"/>
          </p:cNvSpPr>
          <p:nvPr/>
        </p:nvSpPr>
        <p:spPr>
          <a:xfrm>
            <a:off x="6591300" y="2857500"/>
            <a:ext cx="2000250" cy="200025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858000" y="3714750"/>
            <a:ext cx="146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LOCAL</a:t>
            </a:r>
            <a:endParaRPr sz="1875" b="1">
              <a:solidFill>
                <a:srgbClr val="FFFFFF"/>
              </a:solidFill>
            </a:endParaRPr>
          </a:p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SYSTEM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" name="advantage"/>
          <p:cNvSpPr>
            <a:spLocks noGrp="1"/>
          </p:cNvSpPr>
          <p:nvPr/>
        </p:nvSpPr>
        <p:spPr>
          <a:xfrm>
            <a:off x="4572000" y="2133600"/>
            <a:ext cx="190500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686300" y="231457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Local data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2" name="advantage"/>
          <p:cNvSpPr>
            <a:spLocks noGrp="1"/>
          </p:cNvSpPr>
          <p:nvPr/>
        </p:nvSpPr>
        <p:spPr>
          <a:xfrm>
            <a:off x="8667750" y="2133600"/>
            <a:ext cx="190500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782050" y="231457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AI model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4" name="advantage"/>
          <p:cNvSpPr>
            <a:spLocks noGrp="1"/>
          </p:cNvSpPr>
          <p:nvPr/>
        </p:nvSpPr>
        <p:spPr>
          <a:xfrm>
            <a:off x="4572000" y="5029200"/>
            <a:ext cx="190500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4686300" y="521017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Field workflow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6" name="advantage"/>
          <p:cNvSpPr>
            <a:spLocks noGrp="1"/>
          </p:cNvSpPr>
          <p:nvPr/>
        </p:nvSpPr>
        <p:spPr>
          <a:xfrm>
            <a:off x="8667750" y="5029200"/>
            <a:ext cx="190500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E2DA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782050" y="5210175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Trusted partners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095750" y="158115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Perante orange dataset, farm maps, repeat scan history, and the NVSU agricultural network create a local advantage.</a:t>
            </a:r>
            <a:endParaRPr sz="135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DATA FLYWHEEL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Every permissioned scan improves the system.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09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752600"/>
            <a:ext cx="923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Customer trust turns data collection into a compounding product advantage.</a:t>
            </a:r>
            <a:endParaRPr sz="1800">
              <a:solidFill>
                <a:srgbClr val="667085"/>
              </a:solidFill>
            </a:endParaRPr>
          </a:p>
        </p:txBody>
      </p:sp>
      <p:sp>
        <p:nvSpPr>
          <p:cNvPr id="6" name="process-arrow"/>
          <p:cNvSpPr>
            <a:spLocks noGrp="1"/>
          </p:cNvSpPr>
          <p:nvPr/>
        </p:nvSpPr>
        <p:spPr>
          <a:xfrm>
            <a:off x="2514600" y="3276600"/>
            <a:ext cx="6286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process-arrow"/>
          <p:cNvSpPr>
            <a:spLocks noGrp="1"/>
          </p:cNvSpPr>
          <p:nvPr/>
        </p:nvSpPr>
        <p:spPr>
          <a:xfrm>
            <a:off x="5029200" y="3276600"/>
            <a:ext cx="6286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8" name="process-arrow"/>
          <p:cNvSpPr>
            <a:spLocks noGrp="1"/>
          </p:cNvSpPr>
          <p:nvPr/>
        </p:nvSpPr>
        <p:spPr>
          <a:xfrm>
            <a:off x="7543800" y="3276600"/>
            <a:ext cx="628650" cy="266700"/>
          </a:xfrm>
          <a:prstGeom prst="rightArrow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9" name="data-node"/>
          <p:cNvSpPr>
            <a:spLocks noGrp="1"/>
          </p:cNvSpPr>
          <p:nvPr/>
        </p:nvSpPr>
        <p:spPr>
          <a:xfrm>
            <a:off x="685800" y="2857500"/>
            <a:ext cx="1885950" cy="1123950"/>
          </a:xfrm>
          <a:prstGeom prst="roundRect">
            <a:avLst>
              <a:gd name="adj" fmla="val 10169"/>
            </a:avLst>
          </a:prstGeom>
          <a:solidFill>
            <a:srgbClr val="DDEEDC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38200" y="31242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More farm scans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57250" y="3448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Real-world images</a:t>
            </a:r>
            <a:endParaRPr sz="975">
              <a:solidFill>
                <a:srgbClr val="667085"/>
              </a:solidFill>
            </a:endParaRPr>
          </a:p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and scan conditions</a:t>
            </a:r>
            <a:endParaRPr sz="975">
              <a:solidFill>
                <a:srgbClr val="667085"/>
              </a:solidFill>
            </a:endParaRPr>
          </a:p>
        </p:txBody>
      </p:sp>
      <p:sp>
        <p:nvSpPr>
          <p:cNvPr id="12" name="data-node"/>
          <p:cNvSpPr>
            <a:spLocks noGrp="1"/>
          </p:cNvSpPr>
          <p:nvPr/>
        </p:nvSpPr>
        <p:spPr>
          <a:xfrm>
            <a:off x="3200400" y="2857500"/>
            <a:ext cx="1885950" cy="1123950"/>
          </a:xfrm>
          <a:prstGeom prst="roundRect">
            <a:avLst>
              <a:gd name="adj" fmla="val 10169"/>
            </a:avLst>
          </a:prstGeom>
          <a:solidFill>
            <a:srgbClr val="FFF0DB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352800" y="31242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Trusted data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371850" y="3448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Quality-checked data</a:t>
            </a:r>
            <a:endParaRPr sz="975">
              <a:solidFill>
                <a:srgbClr val="667085"/>
              </a:solidFill>
            </a:endParaRPr>
          </a:p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with clear consent</a:t>
            </a:r>
            <a:endParaRPr sz="975">
              <a:solidFill>
                <a:srgbClr val="667085"/>
              </a:solidFill>
            </a:endParaRPr>
          </a:p>
        </p:txBody>
      </p:sp>
      <p:sp>
        <p:nvSpPr>
          <p:cNvPr id="15" name="data-node"/>
          <p:cNvSpPr>
            <a:spLocks noGrp="1"/>
          </p:cNvSpPr>
          <p:nvPr/>
        </p:nvSpPr>
        <p:spPr>
          <a:xfrm>
            <a:off x="5715000" y="2857500"/>
            <a:ext cx="18859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867400" y="31242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3B2C"/>
                </a:solidFill>
              </a:defRPr>
            </a:pPr>
            <a:r>
              <a:rPr sz="1350" b="1">
                <a:solidFill>
                  <a:srgbClr val="173B2C"/>
                </a:solidFill>
              </a:rPr>
              <a:t>Better citrus AI</a:t>
            </a:r>
            <a:endParaRPr sz="1350" b="1">
              <a:solidFill>
                <a:srgbClr val="173B2C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886450" y="3448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Improved detection</a:t>
            </a:r>
            <a:endParaRPr sz="975">
              <a:solidFill>
                <a:srgbClr val="667085"/>
              </a:solidFill>
            </a:endParaRPr>
          </a:p>
          <a:p>
            <a:pPr algn="ct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and evaluation</a:t>
            </a:r>
            <a:endParaRPr sz="975">
              <a:solidFill>
                <a:srgbClr val="667085"/>
              </a:solidFill>
            </a:endParaRPr>
          </a:p>
        </p:txBody>
      </p:sp>
      <p:sp>
        <p:nvSpPr>
          <p:cNvPr id="18" name="data-node"/>
          <p:cNvSpPr>
            <a:spLocks noGrp="1"/>
          </p:cNvSpPr>
          <p:nvPr/>
        </p:nvSpPr>
        <p:spPr>
          <a:xfrm>
            <a:off x="8229600" y="2857500"/>
            <a:ext cx="1885950" cy="1123950"/>
          </a:xfrm>
          <a:prstGeom prst="roundRect">
            <a:avLst>
              <a:gd name="adj" fmla="val 10169"/>
            </a:avLst>
          </a:prstGeom>
          <a:solidFill>
            <a:srgbClr val="0E6B4F"/>
          </a:solidFill>
          <a:ln w="9525">
            <a:solidFill>
              <a:srgbClr val="23835E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8382000" y="31242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Better reports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401050" y="3448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DDEEDC"/>
                </a:solidFill>
              </a:defRPr>
            </a:pPr>
            <a:r>
              <a:rPr sz="975">
                <a:solidFill>
                  <a:srgbClr val="DDEEDC"/>
                </a:solidFill>
              </a:rPr>
              <a:t>More useful insight</a:t>
            </a:r>
            <a:endParaRPr sz="975">
              <a:solidFill>
                <a:srgbClr val="DDEEDC"/>
              </a:solidFill>
            </a:endParaRPr>
          </a:p>
          <a:p>
            <a:pPr algn="ctr">
              <a:defRPr sz="975">
                <a:solidFill>
                  <a:srgbClr val="DDEEDC"/>
                </a:solidFill>
              </a:defRPr>
            </a:pPr>
            <a:r>
              <a:rPr sz="975">
                <a:solidFill>
                  <a:srgbClr val="DDEEDC"/>
                </a:solidFill>
              </a:rPr>
              <a:t>and repeat customers</a:t>
            </a:r>
            <a:endParaRPr sz="975">
              <a:solidFill>
                <a:srgbClr val="DDEEDC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485900" y="5238750"/>
            <a:ext cx="922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>
                <a:solidFill>
                  <a:srgbClr val="667085"/>
                </a:solidFill>
              </a:defRPr>
            </a:pPr>
            <a:r>
              <a:rPr sz="1425">
                <a:solidFill>
                  <a:srgbClr val="667085"/>
                </a:solidFill>
              </a:rPr>
              <a:t>Farm-identifiable data stays protected. Any aggregate insight product requires clear consent.</a:t>
            </a:r>
            <a:endParaRPr sz="1425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kicker"/>
          <p:cNvSpPr>
            <a:spLocks noGrp="1"/>
          </p:cNvSpPr>
          <p:nvPr/>
        </p:nvSpPr>
        <p:spPr>
          <a:xfrm>
            <a:off x="685800" y="4000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E6B4F"/>
                </a:solidFill>
              </a:defRPr>
            </a:pPr>
            <a:r>
              <a:rPr sz="975" b="1">
                <a:solidFill>
                  <a:srgbClr val="0E6B4F"/>
                </a:solidFill>
              </a:rPr>
              <a:t>GROWTH PATH</a:t>
            </a:r>
            <a:endParaRPr sz="975" b="1">
              <a:solidFill>
                <a:srgbClr val="0E6B4F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73B2C"/>
                </a:solidFill>
              </a:defRPr>
            </a:pPr>
            <a:r>
              <a:rPr sz="2850" b="1">
                <a:solidFill>
                  <a:srgbClr val="173B2C"/>
                </a:solidFill>
              </a:rPr>
              <a:t>Citrus first. Farm intelligence next.</a:t>
            </a:r>
            <a:endParaRPr sz="2850" b="1">
              <a:solidFill>
                <a:srgbClr val="173B2C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333500"/>
            <a:ext cx="666750" cy="47625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4" name="page-marker"/>
          <p:cNvSpPr>
            <a:spLocks noGrp="1"/>
          </p:cNvSpPr>
          <p:nvPr/>
        </p:nvSpPr>
        <p:spPr>
          <a:xfrm>
            <a:off x="9810750" y="428625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GROWKITA  |  10</a:t>
            </a:r>
            <a:endParaRPr sz="825" b="1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333500" y="3562350"/>
            <a:ext cx="9525000" cy="47625"/>
          </a:xfrm>
          <a:prstGeom prst="rect">
            <a:avLst/>
          </a:prstGeom>
          <a:solidFill>
            <a:srgbClr val="D5E2DA"/>
          </a:solidFill>
          <a:ln w="0">
            <a:noFill/>
            <a:prstDash val="solid"/>
          </a:ln>
        </p:spPr>
      </p:sp>
      <p:sp>
        <p:nvSpPr>
          <p:cNvPr id="6" name="Oval 5"/>
          <p:cNvSpPr>
            <a:spLocks noGrp="1"/>
          </p:cNvSpPr>
          <p:nvPr/>
        </p:nvSpPr>
        <p:spPr>
          <a:xfrm>
            <a:off x="1333500" y="3238500"/>
            <a:ext cx="685800" cy="68580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333500" y="3429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00100" y="2286000"/>
            <a:ext cx="1752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Prove paid citrus scans</a:t>
            </a:r>
            <a:endParaRPr sz="1500" b="1">
              <a:solidFill>
                <a:srgbClr val="173B2C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42950" y="413385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Nueva Vizcaya</a:t>
            </a:r>
            <a:endParaRPr sz="1125">
              <a:solidFill>
                <a:srgbClr val="667085"/>
              </a:solidFill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4286250" y="3238500"/>
            <a:ext cx="685800" cy="68580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286250" y="3429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752850" y="2286000"/>
            <a:ext cx="1752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Build seasonal monitoring</a:t>
            </a:r>
            <a:endParaRPr sz="1500" b="1">
              <a:solidFill>
                <a:srgbClr val="173B2C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695700" y="413385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Repeat reports</a:t>
            </a:r>
            <a:endParaRPr sz="1125">
              <a:solidFill>
                <a:srgbClr val="667085"/>
              </a:solidFill>
            </a:endParaRPr>
          </a:p>
        </p:txBody>
      </p:sp>
      <p:sp>
        <p:nvSpPr>
          <p:cNvPr id="14" name="Oval 13"/>
          <p:cNvSpPr>
            <a:spLocks noGrp="1"/>
          </p:cNvSpPr>
          <p:nvPr/>
        </p:nvSpPr>
        <p:spPr>
          <a:xfrm>
            <a:off x="7239000" y="3238500"/>
            <a:ext cx="685800" cy="68580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0" y="3429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705600" y="2286000"/>
            <a:ext cx="1752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Enable guided farm-staff scans</a:t>
            </a:r>
            <a:endParaRPr sz="1500" b="1">
              <a:solidFill>
                <a:srgbClr val="173B2C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648450" y="413385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Software + support</a:t>
            </a:r>
            <a:endParaRPr sz="1125">
              <a:solidFill>
                <a:srgbClr val="667085"/>
              </a:solidFill>
            </a:endParaR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10191750" y="3238500"/>
            <a:ext cx="685800" cy="685800"/>
          </a:xfrm>
          <a:prstGeom prst="ellipse">
            <a:avLst/>
          </a:prstGeom>
          <a:solidFill>
            <a:srgbClr val="0E6B4F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191750" y="3429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658350" y="2286000"/>
            <a:ext cx="1752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B2C"/>
                </a:solidFill>
              </a:defRPr>
            </a:pPr>
            <a:r>
              <a:rPr sz="1500" b="1">
                <a:solidFill>
                  <a:srgbClr val="173B2C"/>
                </a:solidFill>
              </a:rPr>
              <a:t>Run paid pilots for the next crop</a:t>
            </a:r>
            <a:endParaRPr sz="1500" b="1">
              <a:solidFill>
                <a:srgbClr val="173B2C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601200" y="413385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Research + controlled environments</a:t>
            </a:r>
            <a:endParaRPr sz="1125">
              <a:solidFill>
                <a:srgbClr val="667085"/>
              </a:solidFill>
            </a:endParaRPr>
          </a:p>
        </p:txBody>
      </p:sp>
      <p:sp>
        <p:nvSpPr>
          <p:cNvPr id="22" name="label"/>
          <p:cNvSpPr>
            <a:spLocks noGrp="1"/>
          </p:cNvSpPr>
          <p:nvPr/>
        </p:nvSpPr>
        <p:spPr>
          <a:xfrm>
            <a:off x="3200400" y="5429250"/>
            <a:ext cx="5791200" cy="342900"/>
          </a:xfrm>
          <a:prstGeom prst="roundRect">
            <a:avLst>
              <a:gd name="adj" fmla="val 50000"/>
            </a:avLst>
          </a:prstGeom>
          <a:solidFill>
            <a:srgbClr val="FFF0DB"/>
          </a:solidFill>
          <a:ln w="0">
            <a:solidFill>
              <a:srgbClr val="FFF0D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DO NOT BUILD EVERY CROP SOLUTION AT ONCE</a:t>
            </a:r>
            <a:endParaRPr sz="975" b="1">
              <a:solidFill>
                <a:srgbClr val="F28C28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85800" y="64293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Expand only after the first use case is paid and repeatable.</a:t>
            </a:r>
            <a:endParaRPr sz="825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image-placeholder"/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467600" y="3086100"/>
            <a:ext cx="449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TEAM AND PROTOTYPE PHOTO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467600" y="3448050"/>
            <a:ext cx="449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field-test or team photo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0C2C20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066800"/>
            <a:ext cx="5619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Our next step: prove value with local farms.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438400"/>
            <a:ext cx="704850" cy="571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28956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9D5C5"/>
                </a:solidFill>
              </a:defRPr>
            </a:pPr>
            <a:r>
              <a:rPr sz="1425" b="1">
                <a:solidFill>
                  <a:srgbClr val="B9D5C5"/>
                </a:solidFill>
              </a:rPr>
              <a:t>We are seeking</a:t>
            </a:r>
            <a:endParaRPr sz="1425" b="1">
              <a:solidFill>
                <a:srgbClr val="B9D5C5"/>
              </a:solidFill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685800" y="34290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14400" y="3333750"/>
            <a:ext cx="544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Pilot citrus farms or cooperatives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685800" y="40386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14400" y="3943350"/>
            <a:ext cx="544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Agricultural mentors and validation partners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685800" y="4648200"/>
            <a:ext cx="95250" cy="95250"/>
          </a:xfrm>
          <a:prstGeom prst="ellipse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914400" y="4552950"/>
            <a:ext cx="544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Support for field testing, data collection, and model improvement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5800" y="5476875"/>
            <a:ext cx="5619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7D6A9"/>
                </a:solidFill>
              </a:defRPr>
            </a:pPr>
            <a:r>
              <a:rPr sz="1500" b="1">
                <a:solidFill>
                  <a:srgbClr val="F7D6A9"/>
                </a:solidFill>
              </a:rPr>
              <a:t>SUCCESS = A farm uses our report to make a better harvest decision and pays to use it again.</a:t>
            </a:r>
            <a:endParaRPr sz="1500" b="1">
              <a:solidFill>
                <a:srgbClr val="F7D6A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C20"/>
          </a:solidFill>
          <a:ln w="0">
            <a:noFill/>
            <a:prstDash val="solid"/>
          </a:ln>
        </p:spPr>
      </p:sp>
      <p:sp>
        <p:nvSpPr>
          <p:cNvPr id="2" name="image-placeholder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EEDC"/>
          </a:solidFill>
          <a:ln w="19050">
            <a:solidFill>
              <a:srgbClr val="23835E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228600" y="3086100"/>
            <a:ext cx="1173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E6B4F"/>
                </a:solidFill>
              </a:defRPr>
            </a:pPr>
            <a:r>
              <a:rPr sz="1350" b="1">
                <a:solidFill>
                  <a:srgbClr val="0E6B4F"/>
                </a:solidFill>
              </a:rPr>
              <a:t>CLOSING BACKGROUND PHOTO</a:t>
            </a:r>
            <a:endParaRPr sz="1350" b="1">
              <a:solidFill>
                <a:srgbClr val="0E6B4F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228600" y="3448050"/>
            <a:ext cx="1173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Paste a real citrus-farm sunrise or team field-test image</a:t>
            </a:r>
            <a:endParaRPr sz="1050">
              <a:solidFill>
                <a:srgbClr val="66708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C20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4857750" y="1733550"/>
            <a:ext cx="2476500" cy="57150"/>
          </a:xfrm>
          <a:prstGeom prst="rect">
            <a:avLst/>
          </a:prstGeom>
          <a:solidFill>
            <a:srgbClr val="F28C28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381250" y="2381250"/>
            <a:ext cx="7429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future of farming</a:t>
            </a:r>
            <a:endParaRPr sz="3450" b="1">
              <a:solidFill>
                <a:srgbClr val="FFFFFF"/>
              </a:solidFill>
            </a:endParaRPr>
          </a:p>
          <a:p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will not be guessed.</a:t>
            </a:r>
            <a:endParaRPr sz="3450" b="1">
              <a:solidFill>
                <a:srgbClr val="FFFFFF"/>
              </a:solidFill>
            </a:endParaRPr>
          </a:p>
          <a:p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It will be measured.</a:t>
            </a:r>
            <a:endParaRPr sz="345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286250" y="49530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9D5C5"/>
                </a:solidFill>
              </a:defRPr>
            </a:pPr>
            <a:r>
              <a:rPr sz="1275" b="1">
                <a:solidFill>
                  <a:srgbClr val="B9D5C5"/>
                </a:solidFill>
              </a:rPr>
              <a:t>GROWKITA</a:t>
            </a:r>
            <a:endParaRPr sz="1275" b="1">
              <a:solidFill>
                <a:srgbClr val="B9D5C5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381250" y="53340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AI-powered farm intelligence, starting in Nueva Vizcaya.</a:t>
            </a:r>
            <a:endParaRPr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4400</Words>
  <Application>WPS Presentation</Application>
  <PresentationFormat>Converted Presentation</PresentationFormat>
  <Paragraphs>301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LopezLester Dann</cp:lastModifiedBy>
  <cp:revision>1</cp:revision>
  <dcterms:created xsi:type="dcterms:W3CDTF">2026-08-10T00:18:13Z</dcterms:created>
  <dcterms:modified xsi:type="dcterms:W3CDTF">2026-08-10T00:18:13Z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1033-12.1.26035.26035</vt:lpwstr>
  </property>
  <property fmtid="{D5CDD505-2E9C-101B-9397-08002B2CF9AE}" pid="3" name="ICV">
    <vt:lpwstr>82F6356BE0EF9A05C518796A87483282_42</vt:lpwstr>
  </property>
</Properties>
</file>